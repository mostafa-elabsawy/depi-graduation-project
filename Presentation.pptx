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-914400" y="5120640"/>
            <a:ext cx="3657600" cy="3657600"/>
          </a:xfrm>
          <a:prstGeom prst="rect">
            <a:avLst/>
          </a:prstGeom>
          <a:solidFill>
            <a:srgbClr val="6D28D9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40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6400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TRENDORA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Full-Stack E-Commerce Platform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605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13432" y="41605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2313432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64024" y="41605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764024" y="41605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12700">
            <a:solidFill>
              <a:srgbClr val="3A36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(DEPI)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559612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Ehab   •   Mohamed Ahmed Ali   •   Mohamed Magdy Abdel Karim   •   Ahmed Khaled Ahmed   •   Mahmoud Gamal Farouk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040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 is a full-stack e-commerce platform that delivers a seamless online shopping experience for customers, while giving administrators a centralized dashboard to manage products, categories, brands, customers, and orders.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818120" y="896112"/>
            <a:ext cx="3840480" cy="1920240"/>
          </a:xfrm>
          <a:prstGeom prst="roundRect">
            <a:avLst>
              <a:gd name="adj" fmla="val 5714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0" y="10424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0" y="135331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seamless online shopping experience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product and order management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secure authentication and authorization</a:t>
            </a:r>
            <a:endParaRPr lang="en-US" sz="1050" dirty="0"/>
          </a:p>
          <a:p>
            <a:pPr marL="203200" indent="-2032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scalable, maintainable 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7432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/home/claude/trendora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2856357"/>
            <a:ext cx="276606" cy="276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2743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Experience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410712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16552" y="2450592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72584" y="27432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1" descr="/home/claude/trendora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41" y="2856357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30952" y="2743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Account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690872" y="3410712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84464" y="2450592"/>
            <a:ext cx="3611880" cy="3749040"/>
          </a:xfrm>
          <a:prstGeom prst="roundRect">
            <a:avLst>
              <a:gd name="adj" fmla="val 303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40496" y="27432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2" descr="/home/claude/trendora/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653" y="2856357"/>
            <a:ext cx="276606" cy="27660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8864" y="27432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558784" y="3410712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&amp; Brands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&amp; Responsibilities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12848" cy="416052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9304" y="1216152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289304" y="1216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3911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Mostafa Ehab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37844" y="25328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37844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2953512"/>
            <a:ext cx="18836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project planning &amp; coordination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frontend architecture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Admin Dashboard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Angular with backend APIs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880360" y="960120"/>
            <a:ext cx="2212848" cy="416052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1216152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216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71800" y="203911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Mohamed Ahmed Ali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69564" y="25328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69564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4952" y="2953512"/>
            <a:ext cx="18836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User Profile module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About and Contact pages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frontend with backend APIs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212080" y="960120"/>
            <a:ext cx="2212848" cy="416052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52744" y="1216152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952744" y="1216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03520" y="203911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Mohamed Magdy Abdel Karim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701284" y="25328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701284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76672" y="2953512"/>
            <a:ext cx="18836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Home page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Product Catalog &amp; Details pages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Cart &amp; Checkout flow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shopping features with APIs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543800" y="960120"/>
            <a:ext cx="2212848" cy="416052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84464" y="1216152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1216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35240" y="203911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Khaled Ahmed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33004" y="25328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8033004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08392" y="2953512"/>
            <a:ext cx="18836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ASP.NET Core Web APIs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Authentication &amp; Authorization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Order Management services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payment services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application deployment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9875520" y="960120"/>
            <a:ext cx="2212848" cy="416052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616184" y="1216152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6184" y="12161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966960" y="2039112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Mahmoud Gamal Farouk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10364724" y="25328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10364724" y="25328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40112" y="2953512"/>
            <a:ext cx="18836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SQL Server database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Product &amp; Category APIs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Admin APIs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look at the full feature set within each of Trendora’s three pillars.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0136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1914525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Experience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Advanced Filtering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Products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Checkout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50876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180136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trendora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41" y="1914525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8013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Account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90872" y="2468880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Login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Management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50876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1801368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2" descr="/home/claude/trendora/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653" y="1914525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180136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558784" y="2468880"/>
            <a:ext cx="30632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Management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Management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Management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PROJECT MODULES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 follows a Three-Tier Architecture, separating the app into independent layers for scalability, maintainability, and security.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481328"/>
          </a:xfrm>
          <a:prstGeom prst="roundRect">
            <a:avLst>
              <a:gd name="adj" fmla="val 7407"/>
            </a:avLst>
          </a:prstGeom>
          <a:solidFill>
            <a:srgbClr val="EAF1FE"/>
          </a:solidFill>
          <a:ln w="12700">
            <a:solidFill>
              <a:srgbClr val="EAF1FE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218495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28216"/>
            <a:ext cx="23774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Layer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114800" y="17465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0" y="2020824"/>
            <a:ext cx="3291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89520" y="17465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589520" y="2020824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Consumption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94476" y="3136392"/>
            <a:ext cx="0" cy="2743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48640" y="3465576"/>
            <a:ext cx="11091672" cy="1481328"/>
          </a:xfrm>
          <a:prstGeom prst="roundRect">
            <a:avLst>
              <a:gd name="adj" fmla="val 7407"/>
            </a:avLst>
          </a:prstGeom>
          <a:solidFill>
            <a:srgbClr val="F3ECFE"/>
          </a:solidFill>
          <a:ln w="12700">
            <a:solidFill>
              <a:srgbClr val="F3ECFE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392277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1" descr="/home/claude/trendora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31" y="4050335"/>
            <a:ext cx="311810" cy="3118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3593592"/>
            <a:ext cx="23774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Layer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114800" y="36118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114800" y="3886200"/>
            <a:ext cx="3291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589520" y="36118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589520" y="3886200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Endpoints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94476" y="5001768"/>
            <a:ext cx="0" cy="27432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48640" y="5330952"/>
            <a:ext cx="11091672" cy="1481328"/>
          </a:xfrm>
          <a:prstGeom prst="roundRect">
            <a:avLst>
              <a:gd name="adj" fmla="val 7407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" y="5788152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2" descr="/home/claude/trendora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231" y="5915711"/>
            <a:ext cx="311810" cy="31181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00200" y="5458968"/>
            <a:ext cx="23774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4114800" y="547725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114800" y="5751576"/>
            <a:ext cx="3291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589520" y="54772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589520" y="5751576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Management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05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Constraints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UI/UX was designed to deliver a modern, intuitive, responsive shopping experience with a consistent visual identity across every interface.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APPROACH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2093976"/>
            <a:ext cx="0" cy="2999232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965960"/>
            <a:ext cx="256032" cy="256032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8F7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" y="1965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8562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 professional e-commerce template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" y="2715768"/>
            <a:ext cx="256032" cy="256032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8F7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layouts to match project requirements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" y="3465576"/>
            <a:ext cx="256032" cy="256032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8F7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3465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33558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the interface using Google Stitch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" y="4215384"/>
            <a:ext cx="256032" cy="256032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8F7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" y="42153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410565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reusable UI components for consistency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" y="4965192"/>
            <a:ext cx="256032" cy="256032"/>
          </a:xfrm>
          <a:prstGeom prst="ellipse">
            <a:avLst/>
          </a:prstGeom>
          <a:solidFill>
            <a:srgbClr val="6D28D9"/>
          </a:solidFill>
          <a:ln w="38100">
            <a:solidFill>
              <a:srgbClr val="F8F7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4965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48554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unified design system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093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9659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29500" y="21671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4" name="Image 0" descr="/home/claude/trendora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2370" y="2269998"/>
            <a:ext cx="251460" cy="2514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19088" y="27432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User-Centered Design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189720" y="19659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0309860" y="21671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8" name="Image 1" descr="/home/claude/trendora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730" y="2269998"/>
            <a:ext cx="251460" cy="2514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299448" y="27432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309360" y="35661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429500" y="37673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2" name="Image 2" descr="/home/claude/trendora/icons/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0" y="3870198"/>
            <a:ext cx="251460" cy="2514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419088" y="43434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Visual Identity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9189720" y="35661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10309860" y="37673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6" name="Image 3" descr="/home/claude/trendora/icons/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730" y="3870198"/>
            <a:ext cx="251460" cy="2514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299448" y="43434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&amp; Accessibility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309360" y="51663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429500" y="53675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40" name="Image 4" descr="/home/claude/trendora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2370" y="5470398"/>
            <a:ext cx="251460" cy="25146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419088" y="59436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9189720" y="516636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10309860" y="5367528"/>
            <a:ext cx="457200" cy="4572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44" name="Image 5" descr="/home/claude/trendora/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2730" y="5470398"/>
            <a:ext cx="251460" cy="2514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9299448" y="5943600"/>
            <a:ext cx="247802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Performance-Oriented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STRATEGY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Angular 21 using a feature-shared-core architecture that isolates business domains from shared and application-wide concerns.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18795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feature: Pages · Routing · Services · Models · Forms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4416552" y="15087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72584" y="17830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/home/claude/trendora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41" y="18962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30952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90872" y="242316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Interfaces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Constants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84464" y="150876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0496" y="178308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2" descr="/home/claude/trendora/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653" y="18962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98864" y="17830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58784" y="242316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Services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Service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Interceptors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Configuration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Error Handling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5074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TECHNOLOGIES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5394960"/>
            <a:ext cx="238201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5394960"/>
            <a:ext cx="23820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058668" y="5394960"/>
            <a:ext cx="151790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4" name="Text 19"/>
          <p:cNvSpPr/>
          <p:nvPr/>
        </p:nvSpPr>
        <p:spPr>
          <a:xfrm>
            <a:off x="3058668" y="5394960"/>
            <a:ext cx="1517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04588" y="53949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6" name="Text 21"/>
          <p:cNvSpPr/>
          <p:nvPr/>
        </p:nvSpPr>
        <p:spPr>
          <a:xfrm>
            <a:off x="4704588" y="53949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118604" y="5394960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8" name="Text 23"/>
          <p:cNvSpPr/>
          <p:nvPr/>
        </p:nvSpPr>
        <p:spPr>
          <a:xfrm>
            <a:off x="7118604" y="5394960"/>
            <a:ext cx="1709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8956548" y="53949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0" name="Text 25"/>
          <p:cNvSpPr/>
          <p:nvPr/>
        </p:nvSpPr>
        <p:spPr>
          <a:xfrm>
            <a:off x="8956548" y="53949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9907524" y="5394960"/>
            <a:ext cx="103784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2" name="Text 27"/>
          <p:cNvSpPr/>
          <p:nvPr/>
        </p:nvSpPr>
        <p:spPr>
          <a:xfrm>
            <a:off x="9907524" y="5394960"/>
            <a:ext cx="10378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48640" y="5852160"/>
            <a:ext cx="17099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4" name="Text 29"/>
          <p:cNvSpPr/>
          <p:nvPr/>
        </p:nvSpPr>
        <p:spPr>
          <a:xfrm>
            <a:off x="548640" y="5852160"/>
            <a:ext cx="1709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Router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Admin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interface for administrators to efficiently manage the entire e-commerce platform through secure, responsive tools.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13509" cy="4434840"/>
          </a:xfrm>
          <a:prstGeom prst="roundRect">
            <a:avLst>
              <a:gd name="adj" fmla="val 5450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/home/claude/trendora/icons/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316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1007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1501445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Statistics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18181" y="1600200"/>
            <a:ext cx="2013509" cy="4434840"/>
          </a:xfrm>
          <a:prstGeom prst="roundRect">
            <a:avLst>
              <a:gd name="adj" fmla="val 5450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46781" y="1828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1" name="Image 1" descr="/home/claude/trendora/icons/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51" y="19316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41141" y="1828800"/>
            <a:ext cx="1007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Mgmt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074213" y="2441448"/>
            <a:ext cx="1501445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&amp; Delete Products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Upload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Pagination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87722" y="1600200"/>
            <a:ext cx="2013509" cy="4434840"/>
          </a:xfrm>
          <a:prstGeom prst="roundRect">
            <a:avLst>
              <a:gd name="adj" fmla="val 5450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16322" y="1828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2" descr="/home/claude/trendora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92" y="19316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10682" y="1828800"/>
            <a:ext cx="1007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Brand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343754" y="2441448"/>
            <a:ext cx="1501445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Categories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Brands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57262" y="1600200"/>
            <a:ext cx="2013509" cy="4434840"/>
          </a:xfrm>
          <a:prstGeom prst="roundRect">
            <a:avLst>
              <a:gd name="adj" fmla="val 5450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85862" y="1828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/home/claude/trendora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8732" y="19316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0222" y="1828800"/>
            <a:ext cx="1007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Mgmt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613294" y="2441448"/>
            <a:ext cx="1501445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 Accounts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Customers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Info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626803" y="1600200"/>
            <a:ext cx="2013509" cy="4434840"/>
          </a:xfrm>
          <a:prstGeom prst="roundRect">
            <a:avLst>
              <a:gd name="adj" fmla="val 5450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55403" y="182880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6" name="Image 4" descr="/home/claude/trendora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8273" y="193167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449763" y="1828800"/>
            <a:ext cx="100766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Mgmt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882835" y="2441448"/>
            <a:ext cx="1501445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Orders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Order Status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Customer Orders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ADMIN DASHBOARD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Customer, Contact &amp;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seamless journey from account creation to managing profile, orders, and favorite products through an intuitive interface.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6536" cy="4434840"/>
          </a:xfrm>
          <a:prstGeom prst="roundRect">
            <a:avLst>
              <a:gd name="adj" fmla="val 3111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trendora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316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3014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1208" y="1600200"/>
            <a:ext cx="3526536" cy="4434840"/>
          </a:xfrm>
          <a:prstGeom prst="roundRect">
            <a:avLst>
              <a:gd name="adj" fmla="val 3111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9808" y="1828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trendora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678" y="19316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54168" y="1828800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87240" y="2441448"/>
            <a:ext cx="3014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Edit Personal Info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Shipping Addresses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3776" y="1600200"/>
            <a:ext cx="3526536" cy="4434840"/>
          </a:xfrm>
          <a:prstGeom prst="roundRect">
            <a:avLst>
              <a:gd name="adj" fmla="val 3111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42376" y="1828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/home/claude/trendora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46" y="19316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36736" y="1828800"/>
            <a:ext cx="2520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History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9808" y="2441448"/>
            <a:ext cx="3014472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Previous Orders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 Status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CUSTOMER EXPERIENCE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Shopping Experience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intuitive purchasing journey — from discovering products to managing the cart and completing an order.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0894" cy="4434840"/>
          </a:xfrm>
          <a:prstGeom prst="roundRect">
            <a:avLst>
              <a:gd name="adj" fmla="val 4252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9316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28800"/>
            <a:ext cx="15750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206883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Products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&amp; Brands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Sections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5566" y="1600200"/>
            <a:ext cx="2580894" cy="4434840"/>
          </a:xfrm>
          <a:prstGeom prst="roundRect">
            <a:avLst>
              <a:gd name="adj" fmla="val 4252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4166" y="1828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/home/claude/trendora/icons/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36" y="19316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8526" y="1828800"/>
            <a:ext cx="15750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41598" y="2441448"/>
            <a:ext cx="206883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22492" y="1600200"/>
            <a:ext cx="2580894" cy="4434840"/>
          </a:xfrm>
          <a:prstGeom prst="roundRect">
            <a:avLst>
              <a:gd name="adj" fmla="val 4252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1092" y="1828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/home/claude/trendora/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962" y="193167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5452" y="1828800"/>
            <a:ext cx="15750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78524" y="2441448"/>
            <a:ext cx="206883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Remove Products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Quantities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Calculation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9418" y="1600200"/>
            <a:ext cx="2580894" cy="4434840"/>
          </a:xfrm>
          <a:prstGeom prst="roundRect">
            <a:avLst>
              <a:gd name="adj" fmla="val 4252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8018" y="18288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/home/claude/trendora/icons/credit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193167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82378" y="1828800"/>
            <a:ext cx="157505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5450" y="2441448"/>
            <a:ext cx="206883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Information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Selection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Review</a:t>
            </a:r>
            <a:endParaRPr lang="en-US" sz="11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Order Placement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SHOPPING EXPERIENCE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ASP.NET Core Web API following a layered architecture that separates endpoints, business logic, and data access.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244852" cy="2331720"/>
          </a:xfrm>
          <a:prstGeom prst="roundRect">
            <a:avLst>
              <a:gd name="adj" fmla="val 488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9606" y="1728216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763" y="1841373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743200"/>
            <a:ext cx="18425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Binding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Handling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48356" y="2674620"/>
            <a:ext cx="59436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97580" y="1508760"/>
            <a:ext cx="2244852" cy="2331720"/>
          </a:xfrm>
          <a:prstGeom prst="roundRect">
            <a:avLst>
              <a:gd name="adj" fmla="val 488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8546" y="1728216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1" descr="/home/claude/trendora/icons/work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703" y="1841373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9020" y="23317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Layer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98748" y="2743200"/>
            <a:ext cx="18425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Authorization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797296" y="2674620"/>
            <a:ext cx="59436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446520" y="1508760"/>
            <a:ext cx="2244852" cy="2331720"/>
          </a:xfrm>
          <a:prstGeom prst="roundRect">
            <a:avLst>
              <a:gd name="adj" fmla="val 488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7486" y="172821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2" descr="/home/claude/trendora/icons/file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643" y="1841373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23317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Layer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647688" y="2743200"/>
            <a:ext cx="18425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Queries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746236" y="2674620"/>
            <a:ext cx="59436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395460" y="1508760"/>
            <a:ext cx="2244852" cy="2331720"/>
          </a:xfrm>
          <a:prstGeom prst="roundRect">
            <a:avLst>
              <a:gd name="adj" fmla="val 4888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66426" y="1728216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3" descr="/home/claude/trendora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9583" y="1841373"/>
            <a:ext cx="276606" cy="2766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86900" y="2331720"/>
            <a:ext cx="20619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596628" y="2743200"/>
            <a:ext cx="18425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Design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54864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TECHNOLOGIES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4805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4805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962656" y="448056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1" name="Text 25"/>
          <p:cNvSpPr/>
          <p:nvPr/>
        </p:nvSpPr>
        <p:spPr>
          <a:xfrm>
            <a:off x="2962656" y="448056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913632" y="4480560"/>
            <a:ext cx="2382012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3" name="Text 27"/>
          <p:cNvSpPr/>
          <p:nvPr/>
        </p:nvSpPr>
        <p:spPr>
          <a:xfrm>
            <a:off x="3913632" y="4480560"/>
            <a:ext cx="23820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423660" y="44805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5" name="Text 29"/>
          <p:cNvSpPr/>
          <p:nvPr/>
        </p:nvSpPr>
        <p:spPr>
          <a:xfrm>
            <a:off x="6423660" y="448056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877556" y="4480560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7" name="Text 31"/>
          <p:cNvSpPr/>
          <p:nvPr/>
        </p:nvSpPr>
        <p:spPr>
          <a:xfrm>
            <a:off x="7877556" y="4480560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48640" y="49377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9" name="Text 33"/>
          <p:cNvSpPr/>
          <p:nvPr/>
        </p:nvSpPr>
        <p:spPr>
          <a:xfrm>
            <a:off x="548640" y="4937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48640" y="550468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PRINCIPLES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48640" y="581558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2" name="Text 36"/>
          <p:cNvSpPr/>
          <p:nvPr/>
        </p:nvSpPr>
        <p:spPr>
          <a:xfrm>
            <a:off x="548640" y="58155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2962656" y="5815584"/>
            <a:ext cx="247802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4" name="Text 38"/>
          <p:cNvSpPr/>
          <p:nvPr/>
        </p:nvSpPr>
        <p:spPr>
          <a:xfrm>
            <a:off x="2962656" y="5815584"/>
            <a:ext cx="24780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5568696" y="581558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6" name="Text 40"/>
          <p:cNvSpPr/>
          <p:nvPr/>
        </p:nvSpPr>
        <p:spPr>
          <a:xfrm>
            <a:off x="5568696" y="58155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7982712" y="5815584"/>
            <a:ext cx="20939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8" name="Text 42"/>
          <p:cNvSpPr/>
          <p:nvPr/>
        </p:nvSpPr>
        <p:spPr>
          <a:xfrm>
            <a:off x="7982712" y="5815584"/>
            <a:ext cx="2093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548640" y="6272784"/>
            <a:ext cx="1421892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0" name="Text 44"/>
          <p:cNvSpPr/>
          <p:nvPr/>
        </p:nvSpPr>
        <p:spPr>
          <a:xfrm>
            <a:off x="548640" y="6272784"/>
            <a:ext cx="14218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2098548" y="6272784"/>
            <a:ext cx="199796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2" name="Text 46"/>
          <p:cNvSpPr/>
          <p:nvPr/>
        </p:nvSpPr>
        <p:spPr>
          <a:xfrm>
            <a:off x="2098548" y="6272784"/>
            <a:ext cx="19979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Codebase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model in Microsoft SQL Server, designed for consistency, integrity, and efficient data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trendora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80868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25856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3172968" y="2491740"/>
            <a:ext cx="14630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33756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1709928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/home/claude/trendora/icons/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483" y="1808683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2152" y="225856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20440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5961888" y="2491740"/>
            <a:ext cx="14630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612648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27648" y="1709928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2" descr="/home/claude/trendora/icons/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03" y="180868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225856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09360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930" dirty="0"/>
          </a:p>
        </p:txBody>
      </p:sp>
      <p:sp>
        <p:nvSpPr>
          <p:cNvPr id="21" name="Shape 16"/>
          <p:cNvSpPr/>
          <p:nvPr/>
        </p:nvSpPr>
        <p:spPr>
          <a:xfrm>
            <a:off x="8750808" y="2491740"/>
            <a:ext cx="146304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8915400" y="1508760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116568" y="1709928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3" descr="/home/claude/trendora/icons/pack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5323" y="1808683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79992" y="2258568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098280" y="26243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30" dirty="0"/>
          </a:p>
        </p:txBody>
      </p:sp>
      <p:sp>
        <p:nvSpPr>
          <p:cNvPr id="27" name="Text 21"/>
          <p:cNvSpPr/>
          <p:nvPr/>
        </p:nvSpPr>
        <p:spPr>
          <a:xfrm>
            <a:off x="548640" y="37033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RELATIONSHIPS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4005072"/>
            <a:ext cx="1277874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005072"/>
            <a:ext cx="1277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1954530" y="4005072"/>
            <a:ext cx="1369085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31" name="Text 25"/>
          <p:cNvSpPr/>
          <p:nvPr/>
        </p:nvSpPr>
        <p:spPr>
          <a:xfrm>
            <a:off x="1954530" y="4005072"/>
            <a:ext cx="136908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451631" y="4005072"/>
            <a:ext cx="1460297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33" name="Text 27"/>
          <p:cNvSpPr/>
          <p:nvPr/>
        </p:nvSpPr>
        <p:spPr>
          <a:xfrm>
            <a:off x="3451631" y="4005072"/>
            <a:ext cx="14602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039944" y="4005072"/>
            <a:ext cx="2463622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35" name="Text 29"/>
          <p:cNvSpPr/>
          <p:nvPr/>
        </p:nvSpPr>
        <p:spPr>
          <a:xfrm>
            <a:off x="5039944" y="4005072"/>
            <a:ext cx="246362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Constraints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7631582" y="4005072"/>
            <a:ext cx="2189988" cy="292608"/>
          </a:xfrm>
          <a:prstGeom prst="roundRect">
            <a:avLst>
              <a:gd name="adj" fmla="val 50000"/>
            </a:avLst>
          </a:prstGeom>
          <a:solidFill>
            <a:srgbClr val="E7F6EF"/>
          </a:solidFill>
          <a:ln/>
        </p:spPr>
      </p:sp>
      <p:sp>
        <p:nvSpPr>
          <p:cNvPr id="37" name="Text 31"/>
          <p:cNvSpPr/>
          <p:nvPr/>
        </p:nvSpPr>
        <p:spPr>
          <a:xfrm>
            <a:off x="7631582" y="4005072"/>
            <a:ext cx="21899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Operations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548640" y="449884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FEATURES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48640" y="4809744"/>
            <a:ext cx="2372411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0" name="Text 34"/>
          <p:cNvSpPr/>
          <p:nvPr/>
        </p:nvSpPr>
        <p:spPr>
          <a:xfrm>
            <a:off x="548640" y="4809744"/>
            <a:ext cx="23724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Foreign Keys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3049067" y="4809744"/>
            <a:ext cx="2007565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2" name="Text 36"/>
          <p:cNvSpPr/>
          <p:nvPr/>
        </p:nvSpPr>
        <p:spPr>
          <a:xfrm>
            <a:off x="3049067" y="4809744"/>
            <a:ext cx="200756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Normalization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184648" y="4809744"/>
            <a:ext cx="2281199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4" name="Text 38"/>
          <p:cNvSpPr/>
          <p:nvPr/>
        </p:nvSpPr>
        <p:spPr>
          <a:xfrm>
            <a:off x="5184648" y="4809744"/>
            <a:ext cx="2281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7593863" y="4809744"/>
            <a:ext cx="1733931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6" name="Text 40"/>
          <p:cNvSpPr/>
          <p:nvPr/>
        </p:nvSpPr>
        <p:spPr>
          <a:xfrm>
            <a:off x="7593863" y="4809744"/>
            <a:ext cx="173393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9455810" y="4809744"/>
            <a:ext cx="1825142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8" name="Text 42"/>
          <p:cNvSpPr/>
          <p:nvPr/>
        </p:nvSpPr>
        <p:spPr>
          <a:xfrm>
            <a:off x="9455810" y="4809744"/>
            <a:ext cx="182514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Mgmt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548640" y="5248656"/>
            <a:ext cx="2098777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0" name="Text 44"/>
          <p:cNvSpPr/>
          <p:nvPr/>
        </p:nvSpPr>
        <p:spPr>
          <a:xfrm>
            <a:off x="548640" y="5248656"/>
            <a:ext cx="209877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Retrieval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548640" y="5742432"/>
            <a:ext cx="1277874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2" name="Text 46"/>
          <p:cNvSpPr/>
          <p:nvPr/>
        </p:nvSpPr>
        <p:spPr>
          <a:xfrm>
            <a:off x="548640" y="5742432"/>
            <a:ext cx="1277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50" dirty="0"/>
          </a:p>
        </p:txBody>
      </p:sp>
      <p:sp>
        <p:nvSpPr>
          <p:cNvPr id="53" name="Shape 47"/>
          <p:cNvSpPr/>
          <p:nvPr/>
        </p:nvSpPr>
        <p:spPr>
          <a:xfrm>
            <a:off x="1954530" y="5742432"/>
            <a:ext cx="2281199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4" name="Text 48"/>
          <p:cNvSpPr/>
          <p:nvPr/>
        </p:nvSpPr>
        <p:spPr>
          <a:xfrm>
            <a:off x="1954530" y="5742432"/>
            <a:ext cx="228119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50" dirty="0"/>
          </a:p>
        </p:txBody>
      </p:sp>
      <p:sp>
        <p:nvSpPr>
          <p:cNvPr id="55" name="Shape 49"/>
          <p:cNvSpPr/>
          <p:nvPr/>
        </p:nvSpPr>
        <p:spPr>
          <a:xfrm>
            <a:off x="4363745" y="574243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6" name="Text 50"/>
          <p:cNvSpPr/>
          <p:nvPr/>
        </p:nvSpPr>
        <p:spPr>
          <a:xfrm>
            <a:off x="4363745" y="57424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950" dirty="0"/>
          </a:p>
        </p:txBody>
      </p:sp>
      <p:sp>
        <p:nvSpPr>
          <p:cNvPr id="57" name="Shape 51"/>
          <p:cNvSpPr/>
          <p:nvPr/>
        </p:nvSpPr>
        <p:spPr>
          <a:xfrm>
            <a:off x="5314721" y="5742432"/>
            <a:ext cx="1277874" cy="29260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8" name="Text 52"/>
          <p:cNvSpPr/>
          <p:nvPr/>
        </p:nvSpPr>
        <p:spPr>
          <a:xfrm>
            <a:off x="5314721" y="5742432"/>
            <a:ext cx="127787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950" dirty="0"/>
          </a:p>
        </p:txBody>
      </p:sp>
      <p:sp>
        <p:nvSpPr>
          <p:cNvPr id="59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Authentication &amp; Admin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and comprehensive admin services via RESTful APIs, enabling role-based access and efficient platform management.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AF1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82496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85366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824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Support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F3ECFE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68249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trendora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822" y="1785366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6824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73952" y="2240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 Endpoints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Policy-Based Authorization</a:t>
            </a:r>
            <a:endParaRPr lang="en-US" sz="100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Resource Access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48640" y="34564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SERVICES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76732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95020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2" descr="/home/claude/trendora/icons/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1" y="4036619"/>
            <a:ext cx="211226" cy="2112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Mgmt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731520" y="4389120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 Operations</a:t>
            </a:r>
            <a:endParaRPr lang="en-US" sz="86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Mgmt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3337560" y="376732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520440" y="395020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/home/claude/trendora/icon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851" y="4036619"/>
            <a:ext cx="211226" cy="21122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97764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Brand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3520440" y="4389120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CRUD</a:t>
            </a:r>
            <a:endParaRPr lang="en-US" sz="86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CRUD</a:t>
            </a:r>
            <a:endParaRPr lang="en-US" sz="860" dirty="0"/>
          </a:p>
        </p:txBody>
      </p:sp>
      <p:sp>
        <p:nvSpPr>
          <p:cNvPr id="25" name="Shape 19"/>
          <p:cNvSpPr/>
          <p:nvPr/>
        </p:nvSpPr>
        <p:spPr>
          <a:xfrm>
            <a:off x="6126480" y="376732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09360" y="395020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7" name="Image 4" descr="/home/claude/trendora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771" y="4036619"/>
            <a:ext cx="211226" cy="2112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6656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Mgmt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309360" y="4389120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Mgmt APIs</a:t>
            </a:r>
            <a:endParaRPr lang="en-US" sz="86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Info Mgmt</a:t>
            </a:r>
            <a:endParaRPr lang="en-US" sz="860" dirty="0"/>
          </a:p>
        </p:txBody>
      </p:sp>
      <p:sp>
        <p:nvSpPr>
          <p:cNvPr id="30" name="Shape 23"/>
          <p:cNvSpPr/>
          <p:nvPr/>
        </p:nvSpPr>
        <p:spPr>
          <a:xfrm>
            <a:off x="8915400" y="3767328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8F7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9098280" y="3950208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2" name="Image 5" descr="/home/claude/trendora/icon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4691" y="4036619"/>
            <a:ext cx="211226" cy="21122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555480" y="39502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Mgmt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9098280" y="4389120"/>
            <a:ext cx="22402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Processing</a:t>
            </a:r>
            <a:endParaRPr lang="en-US" sz="86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Updates</a:t>
            </a:r>
            <a:endParaRPr lang="en-US" sz="86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860" dirty="0"/>
          </a:p>
        </p:txBody>
      </p:sp>
      <p:sp>
        <p:nvSpPr>
          <p:cNvPr id="35" name="Text 27"/>
          <p:cNvSpPr/>
          <p:nvPr/>
        </p:nvSpPr>
        <p:spPr>
          <a:xfrm>
            <a:off x="548640" y="5486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30" dirty="0"/>
          </a:p>
        </p:txBody>
      </p:sp>
      <p:sp>
        <p:nvSpPr>
          <p:cNvPr id="36" name="Shape 28"/>
          <p:cNvSpPr/>
          <p:nvPr/>
        </p:nvSpPr>
        <p:spPr>
          <a:xfrm>
            <a:off x="548640" y="5779008"/>
            <a:ext cx="2151583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7" name="Text 29"/>
          <p:cNvSpPr/>
          <p:nvPr/>
        </p:nvSpPr>
        <p:spPr>
          <a:xfrm>
            <a:off x="548640" y="5779008"/>
            <a:ext cx="2151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930" dirty="0"/>
          </a:p>
        </p:txBody>
      </p:sp>
      <p:sp>
        <p:nvSpPr>
          <p:cNvPr id="38" name="Shape 30"/>
          <p:cNvSpPr/>
          <p:nvPr/>
        </p:nvSpPr>
        <p:spPr>
          <a:xfrm>
            <a:off x="2828239" y="5779008"/>
            <a:ext cx="1973001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39" name="Text 31"/>
          <p:cNvSpPr/>
          <p:nvPr/>
        </p:nvSpPr>
        <p:spPr>
          <a:xfrm>
            <a:off x="2828239" y="5779008"/>
            <a:ext cx="19730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30" dirty="0"/>
          </a:p>
        </p:txBody>
      </p:sp>
      <p:sp>
        <p:nvSpPr>
          <p:cNvPr id="40" name="Shape 32"/>
          <p:cNvSpPr/>
          <p:nvPr/>
        </p:nvSpPr>
        <p:spPr>
          <a:xfrm>
            <a:off x="4929256" y="5779008"/>
            <a:ext cx="224087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1" name="Text 33"/>
          <p:cNvSpPr/>
          <p:nvPr/>
        </p:nvSpPr>
        <p:spPr>
          <a:xfrm>
            <a:off x="4929256" y="5779008"/>
            <a:ext cx="224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30" dirty="0"/>
          </a:p>
        </p:txBody>
      </p:sp>
      <p:sp>
        <p:nvSpPr>
          <p:cNvPr id="42" name="Shape 34"/>
          <p:cNvSpPr/>
          <p:nvPr/>
        </p:nvSpPr>
        <p:spPr>
          <a:xfrm>
            <a:off x="7298146" y="5779008"/>
            <a:ext cx="12586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3" name="Text 35"/>
          <p:cNvSpPr/>
          <p:nvPr/>
        </p:nvSpPr>
        <p:spPr>
          <a:xfrm>
            <a:off x="7298146" y="5779008"/>
            <a:ext cx="1258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30" dirty="0"/>
          </a:p>
        </p:txBody>
      </p:sp>
      <p:sp>
        <p:nvSpPr>
          <p:cNvPr id="44" name="Shape 36"/>
          <p:cNvSpPr/>
          <p:nvPr/>
        </p:nvSpPr>
        <p:spPr>
          <a:xfrm>
            <a:off x="8684834" y="57790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5" name="Text 37"/>
          <p:cNvSpPr/>
          <p:nvPr/>
        </p:nvSpPr>
        <p:spPr>
          <a:xfrm>
            <a:off x="8684834" y="5779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93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AUTH &amp; ADMIN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Product, Order &amp; Customer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that power the shopping experience — products, carts, orders, checkout, and customer accounts.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/home/claude/trendora/icons/b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8402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Services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350008"/>
            <a:ext cx="21854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CRUD Operations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Brand Mgmt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Filtering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 Mgmt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392424" y="15087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21024" y="1737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trendora/icons/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894" y="18402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15384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Cart Services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48456" y="2350008"/>
            <a:ext cx="21854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Remove Items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Quantities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Cart Totals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Cart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6236208" y="15087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64808" y="17373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6" name="Image 2" descr="/home/claude/trendora/icons/credit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78" y="18402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9168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&amp; Checkout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2350008"/>
            <a:ext cx="21854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Information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Management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9079992" y="1508760"/>
            <a:ext cx="2697480" cy="3063240"/>
          </a:xfrm>
          <a:prstGeom prst="roundRect">
            <a:avLst>
              <a:gd name="adj" fmla="val 4068"/>
            </a:avLst>
          </a:prstGeom>
          <a:solidFill>
            <a:srgbClr val="F5F4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592" y="173736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3" descr="/home/claude/trendora/icons/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462" y="18402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02952" y="1737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36024" y="2350008"/>
            <a:ext cx="21854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Mgmt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Management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960" dirty="0"/>
          </a:p>
          <a:p>
            <a:pPr algn="l"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6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960" dirty="0"/>
          </a:p>
        </p:txBody>
      </p:sp>
      <p:sp>
        <p:nvSpPr>
          <p:cNvPr id="24" name="Text 18"/>
          <p:cNvSpPr/>
          <p:nvPr/>
        </p:nvSpPr>
        <p:spPr>
          <a:xfrm>
            <a:off x="548640" y="48280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FEATURES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48640" y="5120640"/>
            <a:ext cx="1973001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5120640"/>
            <a:ext cx="19730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Design</a:t>
            </a:r>
            <a:endParaRPr lang="en-US" sz="930" dirty="0"/>
          </a:p>
        </p:txBody>
      </p:sp>
      <p:sp>
        <p:nvSpPr>
          <p:cNvPr id="27" name="Shape 21"/>
          <p:cNvSpPr/>
          <p:nvPr/>
        </p:nvSpPr>
        <p:spPr>
          <a:xfrm>
            <a:off x="2649657" y="5120640"/>
            <a:ext cx="2151583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28" name="Text 22"/>
          <p:cNvSpPr/>
          <p:nvPr/>
        </p:nvSpPr>
        <p:spPr>
          <a:xfrm>
            <a:off x="2649657" y="5120640"/>
            <a:ext cx="2151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930" dirty="0"/>
          </a:p>
        </p:txBody>
      </p:sp>
      <p:sp>
        <p:nvSpPr>
          <p:cNvPr id="29" name="Shape 23"/>
          <p:cNvSpPr/>
          <p:nvPr/>
        </p:nvSpPr>
        <p:spPr>
          <a:xfrm>
            <a:off x="4929256" y="5120640"/>
            <a:ext cx="2240874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0" name="Text 24"/>
          <p:cNvSpPr/>
          <p:nvPr/>
        </p:nvSpPr>
        <p:spPr>
          <a:xfrm>
            <a:off x="4929256" y="5120640"/>
            <a:ext cx="224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30" dirty="0"/>
          </a:p>
        </p:txBody>
      </p:sp>
      <p:sp>
        <p:nvSpPr>
          <p:cNvPr id="31" name="Shape 25"/>
          <p:cNvSpPr/>
          <p:nvPr/>
        </p:nvSpPr>
        <p:spPr>
          <a:xfrm>
            <a:off x="7298146" y="5120640"/>
            <a:ext cx="2330166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2" name="Text 26"/>
          <p:cNvSpPr/>
          <p:nvPr/>
        </p:nvSpPr>
        <p:spPr>
          <a:xfrm>
            <a:off x="7298146" y="5120640"/>
            <a:ext cx="23301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Integration</a:t>
            </a:r>
            <a:endParaRPr lang="en-US" sz="930" dirty="0"/>
          </a:p>
        </p:txBody>
      </p:sp>
      <p:sp>
        <p:nvSpPr>
          <p:cNvPr id="33" name="Shape 27"/>
          <p:cNvSpPr/>
          <p:nvPr/>
        </p:nvSpPr>
        <p:spPr>
          <a:xfrm>
            <a:off x="548640" y="5541264"/>
            <a:ext cx="1973001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4" name="Text 28"/>
          <p:cNvSpPr/>
          <p:nvPr/>
        </p:nvSpPr>
        <p:spPr>
          <a:xfrm>
            <a:off x="548640" y="5541264"/>
            <a:ext cx="19730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</a:t>
            </a:r>
            <a:endParaRPr lang="en-US" sz="930" dirty="0"/>
          </a:p>
        </p:txBody>
      </p:sp>
      <p:sp>
        <p:nvSpPr>
          <p:cNvPr id="35" name="Shape 29"/>
          <p:cNvSpPr/>
          <p:nvPr/>
        </p:nvSpPr>
        <p:spPr>
          <a:xfrm>
            <a:off x="2649657" y="5541264"/>
            <a:ext cx="1973001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6" name="Text 30"/>
          <p:cNvSpPr/>
          <p:nvPr/>
        </p:nvSpPr>
        <p:spPr>
          <a:xfrm>
            <a:off x="2649657" y="5541264"/>
            <a:ext cx="19730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Access</a:t>
            </a:r>
            <a:endParaRPr lang="en-US" sz="930" dirty="0"/>
          </a:p>
        </p:txBody>
      </p:sp>
      <p:sp>
        <p:nvSpPr>
          <p:cNvPr id="37" name="Shape 31"/>
          <p:cNvSpPr/>
          <p:nvPr/>
        </p:nvSpPr>
        <p:spPr>
          <a:xfrm>
            <a:off x="4750674" y="5541264"/>
            <a:ext cx="1615836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8" name="Text 32"/>
          <p:cNvSpPr/>
          <p:nvPr/>
        </p:nvSpPr>
        <p:spPr>
          <a:xfrm>
            <a:off x="4750674" y="5541264"/>
            <a:ext cx="1615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930" dirty="0"/>
          </a:p>
        </p:txBody>
      </p:sp>
      <p:sp>
        <p:nvSpPr>
          <p:cNvPr id="39" name="Shape 33"/>
          <p:cNvSpPr/>
          <p:nvPr/>
        </p:nvSpPr>
        <p:spPr>
          <a:xfrm>
            <a:off x="6494526" y="5541264"/>
            <a:ext cx="2151583" cy="27432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0" name="Text 34"/>
          <p:cNvSpPr/>
          <p:nvPr/>
        </p:nvSpPr>
        <p:spPr>
          <a:xfrm>
            <a:off x="6494526" y="5541264"/>
            <a:ext cx="2151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930" dirty="0"/>
          </a:p>
        </p:txBody>
      </p:sp>
      <p:sp>
        <p:nvSpPr>
          <p:cNvPr id="41" name="Text 35"/>
          <p:cNvSpPr/>
          <p:nvPr/>
        </p:nvSpPr>
        <p:spPr>
          <a:xfrm>
            <a:off x="548640" y="5998464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1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548640" y="6272784"/>
            <a:ext cx="2151583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3" name="Text 37"/>
          <p:cNvSpPr/>
          <p:nvPr/>
        </p:nvSpPr>
        <p:spPr>
          <a:xfrm>
            <a:off x="548640" y="6272784"/>
            <a:ext cx="2151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930" dirty="0"/>
          </a:p>
        </p:txBody>
      </p:sp>
      <p:sp>
        <p:nvSpPr>
          <p:cNvPr id="44" name="Shape 38"/>
          <p:cNvSpPr/>
          <p:nvPr/>
        </p:nvSpPr>
        <p:spPr>
          <a:xfrm>
            <a:off x="2828239" y="6272784"/>
            <a:ext cx="224087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5" name="Text 39"/>
          <p:cNvSpPr/>
          <p:nvPr/>
        </p:nvSpPr>
        <p:spPr>
          <a:xfrm>
            <a:off x="2828239" y="6272784"/>
            <a:ext cx="224087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930" dirty="0"/>
          </a:p>
        </p:txBody>
      </p:sp>
      <p:sp>
        <p:nvSpPr>
          <p:cNvPr id="46" name="Shape 40"/>
          <p:cNvSpPr/>
          <p:nvPr/>
        </p:nvSpPr>
        <p:spPr>
          <a:xfrm>
            <a:off x="5197130" y="6272784"/>
            <a:ext cx="12586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7" name="Text 41"/>
          <p:cNvSpPr/>
          <p:nvPr/>
        </p:nvSpPr>
        <p:spPr>
          <a:xfrm>
            <a:off x="5197130" y="6272784"/>
            <a:ext cx="1258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930" dirty="0"/>
          </a:p>
        </p:txBody>
      </p:sp>
      <p:sp>
        <p:nvSpPr>
          <p:cNvPr id="48" name="Shape 42"/>
          <p:cNvSpPr/>
          <p:nvPr/>
        </p:nvSpPr>
        <p:spPr>
          <a:xfrm>
            <a:off x="6583817" y="62727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49" name="Text 43"/>
          <p:cNvSpPr/>
          <p:nvPr/>
        </p:nvSpPr>
        <p:spPr>
          <a:xfrm>
            <a:off x="6583817" y="62727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endParaRPr lang="en-US" sz="930" dirty="0"/>
          </a:p>
        </p:txBody>
      </p:sp>
      <p:sp>
        <p:nvSpPr>
          <p:cNvPr id="50" name="Shape 44"/>
          <p:cNvSpPr/>
          <p:nvPr/>
        </p:nvSpPr>
        <p:spPr>
          <a:xfrm>
            <a:off x="7534793" y="6272784"/>
            <a:ext cx="1973001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51" name="Text 45"/>
          <p:cNvSpPr/>
          <p:nvPr/>
        </p:nvSpPr>
        <p:spPr>
          <a:xfrm>
            <a:off x="7534793" y="6272784"/>
            <a:ext cx="19730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30" dirty="0"/>
          </a:p>
        </p:txBody>
      </p:sp>
      <p:sp>
        <p:nvSpPr>
          <p:cNvPr id="52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PRODUCT / ORDER / CUSTOMER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 encountered across the frontend and backend, addressed with modern frameworks and best practices.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14142B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554480"/>
            <a:ext cx="310896" cy="310896"/>
          </a:xfrm>
          <a:prstGeom prst="ellipse">
            <a:avLst/>
          </a:prstGeom>
          <a:solidFill>
            <a:srgbClr val="14142B"/>
          </a:solidFill>
          <a:ln/>
        </p:spPr>
      </p:sp>
      <p:pic>
        <p:nvPicPr>
          <p:cNvPr id="6" name="Image 0" descr="/home/claude/trendora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866" y="1601114"/>
            <a:ext cx="217627" cy="2176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81328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59068" y="1554480"/>
            <a:ext cx="310896" cy="310896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9" name="Image 1" descr="/home/claude/trendora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02" y="1601114"/>
            <a:ext cx="217627" cy="2176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88836" y="1481328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7240" y="19385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323076" y="19385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Service-Based Architecture with Angular HttpClient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3957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395728"/>
            <a:ext cx="11091672" cy="457200"/>
          </a:xfrm>
          <a:prstGeom prst="rect">
            <a:avLst/>
          </a:prstGeom>
          <a:solidFill>
            <a:srgbClr val="F8F7FC"/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23957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23076" y="23957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Role-Based Access Control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28529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77240" y="28529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Synchronization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323076" y="28529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 &amp; RxJS Reactive Programming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33101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310128"/>
            <a:ext cx="11091672" cy="457200"/>
          </a:xfrm>
          <a:prstGeom prst="rect">
            <a:avLst/>
          </a:prstGeom>
          <a:solidFill>
            <a:srgbClr val="F8F7FC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" y="33101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User Interface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323076" y="33101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&amp; PrimeNG Components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48640" y="37673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37673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Organization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323076" y="37673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Angular Architecture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48640" y="42245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8640" y="4224528"/>
            <a:ext cx="11091672" cy="457200"/>
          </a:xfrm>
          <a:prstGeom prst="rect">
            <a:avLst/>
          </a:prstGeom>
          <a:solidFill>
            <a:srgbClr val="F8F7FC"/>
          </a:solidFill>
          <a:ln/>
        </p:spPr>
      </p:sp>
      <p:sp>
        <p:nvSpPr>
          <p:cNvPr id="29" name="Text 25"/>
          <p:cNvSpPr/>
          <p:nvPr/>
        </p:nvSpPr>
        <p:spPr>
          <a:xfrm>
            <a:off x="777240" y="42245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323076" y="42245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Route Guards &amp; HTTP Interceptors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48640" y="46817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77240" y="46817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Relationships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6323076" y="46817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&amp; SQL Server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48640" y="51389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48640" y="5138928"/>
            <a:ext cx="11091672" cy="457200"/>
          </a:xfrm>
          <a:prstGeom prst="rect">
            <a:avLst/>
          </a:prstGeom>
          <a:solidFill>
            <a:srgbClr val="F8F7FC"/>
          </a:solidFill>
          <a:ln/>
        </p:spPr>
      </p:sp>
      <p:sp>
        <p:nvSpPr>
          <p:cNvPr id="36" name="Text 32"/>
          <p:cNvSpPr/>
          <p:nvPr/>
        </p:nvSpPr>
        <p:spPr>
          <a:xfrm>
            <a:off x="777240" y="51389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6323076" y="51389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Reactive Forms with Custom Validators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48640" y="55961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77240" y="55961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323076" y="55961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&amp; Standalone Components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548640" y="60533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solidFill>
            <a:srgbClr val="F8F7FC"/>
          </a:solidFill>
          <a:ln/>
        </p:spPr>
      </p:sp>
      <p:sp>
        <p:nvSpPr>
          <p:cNvPr id="43" name="Text 39"/>
          <p:cNvSpPr/>
          <p:nvPr/>
        </p:nvSpPr>
        <p:spPr>
          <a:xfrm>
            <a:off x="777240" y="60533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323076" y="6053328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Handling &amp; HTTP Interceptors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6094476" y="1481328"/>
            <a:ext cx="0" cy="50292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 is designed with scalability in mind, allowing future features and technologies to be integrated without major architectural changes.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0F0"/>
            </a:solidFill>
            <a:prstDash val="dash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09928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/home/claude/trendora/icons/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1808683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099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" y="2286000"/>
            <a:ext cx="31546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Shopping Assistant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 Analysis</a:t>
            </a:r>
            <a:endParaRPr lang="en-US" sz="930" dirty="0"/>
          </a:p>
        </p:txBody>
      </p:sp>
      <p:sp>
        <p:nvSpPr>
          <p:cNvPr id="9" name="Shape 6"/>
          <p:cNvSpPr/>
          <p:nvPr/>
        </p:nvSpPr>
        <p:spPr>
          <a:xfrm>
            <a:off x="4288536" y="1508760"/>
            <a:ext cx="36118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0F0"/>
            </a:solidFill>
            <a:prstDash val="dash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709928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1" name="Image 1" descr="/home/claude/trendora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47" y="180868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5776" y="17099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Application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26280" y="2286000"/>
            <a:ext cx="31546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&amp; iOS Apps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Experience</a:t>
            </a:r>
            <a:endParaRPr lang="en-US" sz="930" dirty="0"/>
          </a:p>
        </p:txBody>
      </p:sp>
      <p:sp>
        <p:nvSpPr>
          <p:cNvPr id="14" name="Shape 10"/>
          <p:cNvSpPr/>
          <p:nvPr/>
        </p:nvSpPr>
        <p:spPr>
          <a:xfrm>
            <a:off x="8028432" y="1508760"/>
            <a:ext cx="36118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0F0"/>
            </a:solidFill>
            <a:prstDash val="dash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47888" y="1709928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16" name="Image 2" descr="/home/claude/trendora/icons/credit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643" y="1808683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05672" y="17099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&amp; Checkout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66176" y="2286000"/>
            <a:ext cx="31546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Gateways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 Integration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Payment Methods</a:t>
            </a:r>
            <a:endParaRPr lang="en-US" sz="930" dirty="0"/>
          </a:p>
        </p:txBody>
      </p:sp>
      <p:sp>
        <p:nvSpPr>
          <p:cNvPr id="19" name="Shape 14"/>
          <p:cNvSpPr/>
          <p:nvPr/>
        </p:nvSpPr>
        <p:spPr>
          <a:xfrm>
            <a:off x="548640" y="3721608"/>
            <a:ext cx="36118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0F0"/>
            </a:solidFill>
            <a:prstDash val="dash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922776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1" name="Image 3" descr="/home/claude/trendora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" y="4021531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92277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Engagement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86384" y="4498848"/>
            <a:ext cx="31546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Alerts</a:t>
            </a:r>
            <a:endParaRPr lang="en-US" sz="930" dirty="0"/>
          </a:p>
        </p:txBody>
      </p:sp>
      <p:sp>
        <p:nvSpPr>
          <p:cNvPr id="24" name="Shape 18"/>
          <p:cNvSpPr/>
          <p:nvPr/>
        </p:nvSpPr>
        <p:spPr>
          <a:xfrm>
            <a:off x="4288536" y="3721608"/>
            <a:ext cx="36118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0F0"/>
            </a:solidFill>
            <a:prstDash val="dash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07992" y="3922776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26" name="Image 4" descr="/home/claude/trendora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747" y="4021531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5776" y="392277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26280" y="4498848"/>
            <a:ext cx="31546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Reports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930" dirty="0"/>
          </a:p>
        </p:txBody>
      </p:sp>
      <p:sp>
        <p:nvSpPr>
          <p:cNvPr id="29" name="Shape 22"/>
          <p:cNvSpPr/>
          <p:nvPr/>
        </p:nvSpPr>
        <p:spPr>
          <a:xfrm>
            <a:off x="8028432" y="3721608"/>
            <a:ext cx="361188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D0F0"/>
            </a:solidFill>
            <a:prstDash val="dash"/>
          </a:ln>
          <a:effectLst>
            <a:outerShdw sx="100000" sy="100000" kx="0" ky="0" algn="bl" rotWithShape="0" blurRad="101600" dist="38100" dir="54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47888" y="3922776"/>
            <a:ext cx="438912" cy="438912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31" name="Image 5" descr="/home/claude/trendora/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643" y="4021531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05672" y="392277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Expansion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266176" y="4498848"/>
            <a:ext cx="315468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930" dirty="0"/>
          </a:p>
          <a:p>
            <a:pPr algn="l" marL="177800" indent="-1778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3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Marketplace</a:t>
            </a:r>
            <a:endParaRPr lang="en-US" sz="93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TRENDORA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6D28D9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5544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246888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09848" y="3246120"/>
            <a:ext cx="4572000" cy="0"/>
          </a:xfrm>
          <a:prstGeom prst="line">
            <a:avLst/>
          </a:prstGeom>
          <a:noFill/>
          <a:ln w="12700">
            <a:solidFill>
              <a:srgbClr val="3A36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20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TRENDORA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3913632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Full-Stack E-Commerce Platform — Digital Egypt Pioneers Initiative (DEPI) Graduation Project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67966" y="44348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0" name="Text 8"/>
          <p:cNvSpPr/>
          <p:nvPr/>
        </p:nvSpPr>
        <p:spPr>
          <a:xfrm>
            <a:off x="2467966" y="4434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66998" y="44348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866998" y="4434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34710" y="4434840"/>
            <a:ext cx="2189988" cy="347472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134710" y="4434840"/>
            <a:ext cx="21899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89290" y="443484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2E2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489290" y="443484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6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2026-07-10T19:09:13Z</dcterms:created>
  <dcterms:modified xsi:type="dcterms:W3CDTF">2026-07-10T19:09:13Z</dcterms:modified>
</cp:coreProperties>
</file>