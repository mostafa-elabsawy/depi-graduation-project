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3" r:id="rId3"/>
    <p:sldId id="258" r:id="rId4"/>
    <p:sldId id="259" r:id="rId5"/>
    <p:sldId id="274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50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58951-EDD5-9385-F5FA-1DA04F0DC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688D2-3B9A-D7DA-4B02-15B8C78F6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FBFE84-A390-9A6E-B2FC-775C7C07C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DF7AA-B0F2-EE7D-EE2F-EB1F4AD33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9293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TRENDORA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Full-Stack E-Commerce Platform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21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13432" y="416052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313432" y="4160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64024" y="41605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64024" y="41605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074920"/>
            <a:ext cx="10515600" cy="0"/>
          </a:xfrm>
          <a:prstGeom prst="line">
            <a:avLst/>
          </a:prstGeom>
          <a:noFill/>
          <a:ln w="12700">
            <a:solidFill>
              <a:srgbClr val="3A36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5303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59612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Egypt Pioneers Initiative (DEPI)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5303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5596128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Mostafa Ehab   •   Mohamed Ahmed Ali   •   Mohamed Magdy Abdel Karim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Ahmed Khaled Ahmed   •   Mahmoud Gamal Farouk</a:t>
            </a:r>
            <a:endParaRPr lang="en-US" sz="100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6553F85B-AB3B-6CEE-8ADC-DB21C4E36486}"/>
              </a:ext>
            </a:extLst>
          </p:cNvPr>
          <p:cNvSpPr/>
          <p:nvPr/>
        </p:nvSpPr>
        <p:spPr>
          <a:xfrm>
            <a:off x="777240" y="1097280"/>
            <a:ext cx="2341984" cy="365760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</a:t>
            </a:r>
            <a:endParaRPr lang="en-US" sz="1200" dirty="0"/>
          </a:p>
          <a:p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39008"/>
            <a:ext cx="387407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7366" y="1477596"/>
            <a:ext cx="5870821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 is a full-stack e-commerce platform that delivers a seamless online shopping experience for customers, while giving administrators a centralized dashboard to manage products, categories, brands, customers, and orders.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2775" y="813816"/>
            <a:ext cx="4586556" cy="2125328"/>
          </a:xfrm>
          <a:prstGeom prst="roundRect">
            <a:avLst>
              <a:gd name="adj" fmla="val 5714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72815" y="937913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20693" y="1305725"/>
            <a:ext cx="4318637" cy="17827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seamless online shopping experience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product and order management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secure authentication and authorization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scalable, maintainable 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391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268328"/>
            <a:ext cx="3611880" cy="2542032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" y="3560936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trendora/icons/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89" y="3674093"/>
            <a:ext cx="276606" cy="27660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3560936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Experience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31520" y="4228448"/>
            <a:ext cx="3063240" cy="14225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Cart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Checkout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268328"/>
            <a:ext cx="3611880" cy="2542032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81144" y="3560936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trendora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301" y="3674093"/>
            <a:ext cx="276606" cy="27660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39512" y="3560936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Account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599432" y="4228448"/>
            <a:ext cx="3063240" cy="14225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93024" y="3268328"/>
            <a:ext cx="3611880" cy="2542032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449056" y="3560936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/home/claude/trendora/icons/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213" y="3674093"/>
            <a:ext cx="276606" cy="27660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107424" y="3560936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467344" y="4228448"/>
            <a:ext cx="3063240" cy="14225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&amp; Brands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Members &amp;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212848" cy="41605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289304" y="1216152"/>
            <a:ext cx="731520" cy="7315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89304" y="1216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039112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Mostafa Ehab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37844" y="253288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7844" y="25328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3232" y="2953512"/>
            <a:ext cx="18836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project planning &amp; coordination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frontend architecture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the Admin Dashboard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Angular with backend APIs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880360" y="960120"/>
            <a:ext cx="2212848" cy="41605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21024" y="1216152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216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71800" y="2039112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Mohamed Ahmed Ali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69564" y="253288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69564" y="25328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44952" y="2953512"/>
            <a:ext cx="18836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the User Profile module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About and Contact pages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frontend with backend APIs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212080" y="960120"/>
            <a:ext cx="2212848" cy="41605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52744" y="1216152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52744" y="1216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03520" y="2039112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Mohamed Magdy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701284" y="253288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01284" y="25328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76672" y="2953512"/>
            <a:ext cx="18836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the Home page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Product Catalog &amp; Details pages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Cart &amp; Checkout flow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shopping features with APIs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7543800" y="960120"/>
            <a:ext cx="2212848" cy="41605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284464" y="1216152"/>
            <a:ext cx="731520" cy="73152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84464" y="1216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35240" y="2039112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 Khaled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33004" y="253288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33004" y="25328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8392" y="2953512"/>
            <a:ext cx="18836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ASP.NET Core Web APIs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Authentication &amp; Authorization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Order Management services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payment services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application deployment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9875520" y="960120"/>
            <a:ext cx="2212848" cy="41605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616184" y="1216152"/>
            <a:ext cx="731520" cy="73152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616184" y="1216152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66960" y="2039112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Mahmoud Gamal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364724" y="253288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364724" y="25328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040112" y="2953512"/>
            <a:ext cx="1883664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SQL Server database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Product &amp; Category APIs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Admin APIs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Project Modules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 at the full feature set within each of Trendora’s three pillars.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11880" cy="3333828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801368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29" y="1914525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013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Experience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306324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Advanced Filtering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Products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Cart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Checkout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6552" y="1508760"/>
            <a:ext cx="3611880" cy="3333828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72584" y="1801368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741" y="1914525"/>
            <a:ext cx="276606" cy="27660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30952" y="18013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Account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690872" y="2468880"/>
            <a:ext cx="306324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Registration &amp; Login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Management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Page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Page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284464" y="1508760"/>
            <a:ext cx="3611880" cy="3333828"/>
          </a:xfrm>
          <a:prstGeom prst="roundRect">
            <a:avLst>
              <a:gd name="adj" fmla="val 303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540496" y="1801368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653" y="1914525"/>
            <a:ext cx="276606" cy="27660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98864" y="18013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558784" y="2468880"/>
            <a:ext cx="3063240" cy="20848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Management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Management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Management</a:t>
            </a:r>
            <a:endParaRPr lang="en-US" sz="11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PROJECT MODULES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317EA-7150-A8CD-D1A7-599CBCA6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18">
            <a:extLst>
              <a:ext uri="{FF2B5EF4-FFF2-40B4-BE49-F238E27FC236}">
                <a16:creationId xmlns:a16="http://schemas.microsoft.com/office/drawing/2014/main" id="{721DDAB5-6B1B-A050-1639-FE79B385A316}"/>
              </a:ext>
            </a:extLst>
          </p:cNvPr>
          <p:cNvSpPr/>
          <p:nvPr/>
        </p:nvSpPr>
        <p:spPr>
          <a:xfrm>
            <a:off x="8339033" y="1751005"/>
            <a:ext cx="2550818" cy="3083767"/>
          </a:xfrm>
          <a:prstGeom prst="roundRect">
            <a:avLst>
              <a:gd name="adj" fmla="val 7407"/>
            </a:avLst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Shape 10">
            <a:extLst>
              <a:ext uri="{FF2B5EF4-FFF2-40B4-BE49-F238E27FC236}">
                <a16:creationId xmlns:a16="http://schemas.microsoft.com/office/drawing/2014/main" id="{9DC970B5-30AB-08EE-4C32-EBCF82EFB6B1}"/>
              </a:ext>
            </a:extLst>
          </p:cNvPr>
          <p:cNvSpPr/>
          <p:nvPr/>
        </p:nvSpPr>
        <p:spPr>
          <a:xfrm>
            <a:off x="4586923" y="1713202"/>
            <a:ext cx="2550818" cy="3159375"/>
          </a:xfrm>
          <a:prstGeom prst="roundRect">
            <a:avLst>
              <a:gd name="adj" fmla="val 7407"/>
            </a:avLst>
          </a:prstGeom>
          <a:solidFill>
            <a:srgbClr val="F3ECFE"/>
          </a:solidFill>
          <a:ln w="12700">
            <a:solidFill>
              <a:srgbClr val="F3ECFE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0">
            <a:extLst>
              <a:ext uri="{FF2B5EF4-FFF2-40B4-BE49-F238E27FC236}">
                <a16:creationId xmlns:a16="http://schemas.microsoft.com/office/drawing/2014/main" id="{48F054CD-AA4B-52DD-0D2A-6D6342ADCD5A}"/>
              </a:ext>
            </a:extLst>
          </p:cNvPr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D4DF229-CC11-F382-1156-101A92781349}"/>
              </a:ext>
            </a:extLst>
          </p:cNvPr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 follows a Three-Tier Architecture, separating the app into independent layers for scalability, maintainability, and security.</a:t>
            </a:r>
            <a:endParaRPr lang="en-US" sz="125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1BD63A5A-6A3A-C488-17FB-A61107BEBBF8}"/>
              </a:ext>
            </a:extLst>
          </p:cNvPr>
          <p:cNvSpPr/>
          <p:nvPr/>
        </p:nvSpPr>
        <p:spPr>
          <a:xfrm>
            <a:off x="972904" y="1810647"/>
            <a:ext cx="2586446" cy="3083767"/>
          </a:xfrm>
          <a:prstGeom prst="roundRect">
            <a:avLst>
              <a:gd name="adj" fmla="val 7407"/>
            </a:avLst>
          </a:prstGeom>
          <a:solidFill>
            <a:srgbClr val="EAF1FE"/>
          </a:solidFill>
          <a:ln w="12700">
            <a:solidFill>
              <a:srgbClr val="EAF1FE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4A06EAB-0060-762B-575E-F52EA219D6B3}"/>
              </a:ext>
            </a:extLst>
          </p:cNvPr>
          <p:cNvGrpSpPr/>
          <p:nvPr/>
        </p:nvGrpSpPr>
        <p:grpSpPr>
          <a:xfrm>
            <a:off x="1982663" y="2089539"/>
            <a:ext cx="566928" cy="566928"/>
            <a:chOff x="804672" y="2057400"/>
            <a:chExt cx="566928" cy="566928"/>
          </a:xfrm>
        </p:grpSpPr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DC7C6FEB-6330-87D2-54D9-3923CB87AF5D}"/>
                </a:ext>
              </a:extLst>
            </p:cNvPr>
            <p:cNvSpPr/>
            <p:nvPr/>
          </p:nvSpPr>
          <p:spPr>
            <a:xfrm>
              <a:off x="804672" y="2057400"/>
              <a:ext cx="566928" cy="566928"/>
            </a:xfrm>
            <a:prstGeom prst="ellipse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42" name="Image 0" descr="/home/claude/trendora/icons/monitor.png">
              <a:extLst>
                <a:ext uri="{FF2B5EF4-FFF2-40B4-BE49-F238E27FC236}">
                  <a16:creationId xmlns:a16="http://schemas.microsoft.com/office/drawing/2014/main" id="{1A40C978-C153-4059-9D8B-472A78EA2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2231" y="2184959"/>
              <a:ext cx="311810" cy="311810"/>
            </a:xfrm>
            <a:prstGeom prst="rect">
              <a:avLst/>
            </a:prstGeom>
          </p:spPr>
        </p:pic>
      </p:grpSp>
      <p:sp>
        <p:nvSpPr>
          <p:cNvPr id="44" name="Text 4">
            <a:extLst>
              <a:ext uri="{FF2B5EF4-FFF2-40B4-BE49-F238E27FC236}">
                <a16:creationId xmlns:a16="http://schemas.microsoft.com/office/drawing/2014/main" id="{5E912D60-B0BF-D616-3047-79B97525529F}"/>
              </a:ext>
            </a:extLst>
          </p:cNvPr>
          <p:cNvSpPr/>
          <p:nvPr/>
        </p:nvSpPr>
        <p:spPr>
          <a:xfrm>
            <a:off x="1530694" y="2605803"/>
            <a:ext cx="156642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Layer</a:t>
            </a:r>
            <a:endParaRPr lang="en-US" sz="1550" dirty="0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F97BE081-12BC-947E-A92A-F6354BA8E09D}"/>
              </a:ext>
            </a:extLst>
          </p:cNvPr>
          <p:cNvSpPr/>
          <p:nvPr/>
        </p:nvSpPr>
        <p:spPr>
          <a:xfrm>
            <a:off x="1182106" y="3249626"/>
            <a:ext cx="108402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900" dirty="0"/>
          </a:p>
        </p:txBody>
      </p:sp>
      <p:sp>
        <p:nvSpPr>
          <p:cNvPr id="48" name="Text 6">
            <a:extLst>
              <a:ext uri="{FF2B5EF4-FFF2-40B4-BE49-F238E27FC236}">
                <a16:creationId xmlns:a16="http://schemas.microsoft.com/office/drawing/2014/main" id="{F7D26D53-2017-DCEF-8A49-B8962FD85322}"/>
              </a:ext>
            </a:extLst>
          </p:cNvPr>
          <p:cNvSpPr/>
          <p:nvPr/>
        </p:nvSpPr>
        <p:spPr>
          <a:xfrm>
            <a:off x="1220740" y="3455077"/>
            <a:ext cx="1093165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21</a:t>
            </a:r>
            <a:endParaRPr lang="en-US" sz="10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RxJS</a:t>
            </a:r>
            <a:endParaRPr lang="en-US" sz="1050" dirty="0"/>
          </a:p>
        </p:txBody>
      </p:sp>
      <p:sp>
        <p:nvSpPr>
          <p:cNvPr id="60" name="Text 4">
            <a:extLst>
              <a:ext uri="{FF2B5EF4-FFF2-40B4-BE49-F238E27FC236}">
                <a16:creationId xmlns:a16="http://schemas.microsoft.com/office/drawing/2014/main" id="{2B882240-ECE4-967A-C74F-6074725AF7BD}"/>
              </a:ext>
            </a:extLst>
          </p:cNvPr>
          <p:cNvSpPr/>
          <p:nvPr/>
        </p:nvSpPr>
        <p:spPr>
          <a:xfrm>
            <a:off x="5128858" y="2578403"/>
            <a:ext cx="1562503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Layer</a:t>
            </a:r>
            <a:endParaRPr lang="en-US" sz="155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E22E3B8E-9379-4333-1596-520D9B082E65}"/>
              </a:ext>
            </a:extLst>
          </p:cNvPr>
          <p:cNvSpPr/>
          <p:nvPr/>
        </p:nvSpPr>
        <p:spPr>
          <a:xfrm>
            <a:off x="4778311" y="3222226"/>
            <a:ext cx="108402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9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1B5DBDE7-15B9-28A0-0515-5B514B135AD5}"/>
              </a:ext>
            </a:extLst>
          </p:cNvPr>
          <p:cNvSpPr/>
          <p:nvPr/>
        </p:nvSpPr>
        <p:spPr>
          <a:xfrm>
            <a:off x="4816945" y="3427677"/>
            <a:ext cx="18744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</a:t>
            </a:r>
            <a:endParaRPr lang="en-US" sz="1050" dirty="0"/>
          </a:p>
        </p:txBody>
      </p:sp>
      <p:sp>
        <p:nvSpPr>
          <p:cNvPr id="74" name="Text 4">
            <a:extLst>
              <a:ext uri="{FF2B5EF4-FFF2-40B4-BE49-F238E27FC236}">
                <a16:creationId xmlns:a16="http://schemas.microsoft.com/office/drawing/2014/main" id="{B7FC6ED6-7D6B-C9C8-BA75-CD67CCDAE3F4}"/>
              </a:ext>
            </a:extLst>
          </p:cNvPr>
          <p:cNvSpPr/>
          <p:nvPr/>
        </p:nvSpPr>
        <p:spPr>
          <a:xfrm>
            <a:off x="8824996" y="2603292"/>
            <a:ext cx="157889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Layer</a:t>
            </a:r>
            <a:endParaRPr lang="en-US" sz="1550" dirty="0"/>
          </a:p>
        </p:txBody>
      </p:sp>
      <p:sp>
        <p:nvSpPr>
          <p:cNvPr id="75" name="Text 5">
            <a:extLst>
              <a:ext uri="{FF2B5EF4-FFF2-40B4-BE49-F238E27FC236}">
                <a16:creationId xmlns:a16="http://schemas.microsoft.com/office/drawing/2014/main" id="{CA6A5311-9267-025C-6CCF-050FCC3DAC67}"/>
              </a:ext>
            </a:extLst>
          </p:cNvPr>
          <p:cNvSpPr/>
          <p:nvPr/>
        </p:nvSpPr>
        <p:spPr>
          <a:xfrm>
            <a:off x="8374516" y="3174018"/>
            <a:ext cx="108402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900" dirty="0"/>
          </a:p>
        </p:txBody>
      </p:sp>
      <p:sp>
        <p:nvSpPr>
          <p:cNvPr id="76" name="Text 6">
            <a:extLst>
              <a:ext uri="{FF2B5EF4-FFF2-40B4-BE49-F238E27FC236}">
                <a16:creationId xmlns:a16="http://schemas.microsoft.com/office/drawing/2014/main" id="{A03950DE-6515-5BD0-AB8A-DC5802723FDC}"/>
              </a:ext>
            </a:extLst>
          </p:cNvPr>
          <p:cNvSpPr/>
          <p:nvPr/>
        </p:nvSpPr>
        <p:spPr>
          <a:xfrm>
            <a:off x="8413150" y="3411761"/>
            <a:ext cx="1878515" cy="9003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1050" dirty="0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5592F81-2917-E1CC-EC93-736FCA10FC26}"/>
              </a:ext>
            </a:extLst>
          </p:cNvPr>
          <p:cNvGrpSpPr/>
          <p:nvPr/>
        </p:nvGrpSpPr>
        <p:grpSpPr>
          <a:xfrm>
            <a:off x="5582174" y="2013931"/>
            <a:ext cx="566928" cy="566928"/>
            <a:chOff x="804672" y="3922776"/>
            <a:chExt cx="566928" cy="566928"/>
          </a:xfrm>
        </p:grpSpPr>
        <p:sp>
          <p:nvSpPr>
            <p:cNvPr id="78" name="Shape 11">
              <a:extLst>
                <a:ext uri="{FF2B5EF4-FFF2-40B4-BE49-F238E27FC236}">
                  <a16:creationId xmlns:a16="http://schemas.microsoft.com/office/drawing/2014/main" id="{A25E3C26-77B2-BA3A-F977-F5094090149C}"/>
                </a:ext>
              </a:extLst>
            </p:cNvPr>
            <p:cNvSpPr/>
            <p:nvPr/>
          </p:nvSpPr>
          <p:spPr>
            <a:xfrm>
              <a:off x="804672" y="3922776"/>
              <a:ext cx="566928" cy="566928"/>
            </a:xfrm>
            <a:prstGeom prst="ellipse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79" name="Image 1" descr="/home/claude/trendora/icons/server.png">
              <a:extLst>
                <a:ext uri="{FF2B5EF4-FFF2-40B4-BE49-F238E27FC236}">
                  <a16:creationId xmlns:a16="http://schemas.microsoft.com/office/drawing/2014/main" id="{7FBCC013-B1CD-A2CE-01EC-5C8B8EC4F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32231" y="4050335"/>
              <a:ext cx="311810" cy="311810"/>
            </a:xfrm>
            <a:prstGeom prst="rect">
              <a:avLst/>
            </a:prstGeom>
          </p:spPr>
        </p:pic>
      </p:grpSp>
      <p:pic>
        <p:nvPicPr>
          <p:cNvPr id="85" name="Image 2" descr="/home/claude/trendora/icons/database.png">
            <a:extLst>
              <a:ext uri="{FF2B5EF4-FFF2-40B4-BE49-F238E27FC236}">
                <a16:creationId xmlns:a16="http://schemas.microsoft.com/office/drawing/2014/main" id="{DBB67D2A-8F3B-71B1-67B6-1715D4263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231" y="5915711"/>
            <a:ext cx="311810" cy="311810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DE428678-EF2B-8B03-E65D-667923E2E93A}"/>
              </a:ext>
            </a:extLst>
          </p:cNvPr>
          <p:cNvGrpSpPr/>
          <p:nvPr/>
        </p:nvGrpSpPr>
        <p:grpSpPr>
          <a:xfrm>
            <a:off x="9222851" y="2032566"/>
            <a:ext cx="566928" cy="566928"/>
            <a:chOff x="804672" y="5788152"/>
            <a:chExt cx="566928" cy="566928"/>
          </a:xfrm>
        </p:grpSpPr>
        <p:sp>
          <p:nvSpPr>
            <p:cNvPr id="87" name="Shape 19">
              <a:extLst>
                <a:ext uri="{FF2B5EF4-FFF2-40B4-BE49-F238E27FC236}">
                  <a16:creationId xmlns:a16="http://schemas.microsoft.com/office/drawing/2014/main" id="{BE294304-6331-7304-AE6F-1F547E2956CD}"/>
                </a:ext>
              </a:extLst>
            </p:cNvPr>
            <p:cNvSpPr/>
            <p:nvPr/>
          </p:nvSpPr>
          <p:spPr>
            <a:xfrm>
              <a:off x="804672" y="5788152"/>
              <a:ext cx="566928" cy="566928"/>
            </a:xfrm>
            <a:prstGeom prst="ellipse">
              <a:avLst/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88" name="Image 2" descr="/home/claude/trendora/icons/database.png">
              <a:extLst>
                <a:ext uri="{FF2B5EF4-FFF2-40B4-BE49-F238E27FC236}">
                  <a16:creationId xmlns:a16="http://schemas.microsoft.com/office/drawing/2014/main" id="{2F55CA88-437D-DDF6-D08B-4522F412A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2231" y="5915711"/>
              <a:ext cx="311810" cy="3118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8011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Strategy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UI/UX was designed to deliver a modern, intuitive, responsive shopping experience with a consistent visual identity across every interface.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APPROACH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093976"/>
            <a:ext cx="0" cy="1524762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9224" y="1965960"/>
            <a:ext cx="256032" cy="256032"/>
          </a:xfrm>
          <a:prstGeom prst="ellipse">
            <a:avLst/>
          </a:prstGeom>
          <a:solidFill>
            <a:srgbClr val="6D28D9"/>
          </a:solidFill>
          <a:ln w="38100">
            <a:solidFill>
              <a:srgbClr val="F8F7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9224" y="1965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" y="185623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a professional e-commerce template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9224" y="2715768"/>
            <a:ext cx="256032" cy="256032"/>
          </a:xfrm>
          <a:prstGeom prst="ellipse">
            <a:avLst/>
          </a:prstGeom>
          <a:solidFill>
            <a:srgbClr val="6D28D9"/>
          </a:solidFill>
          <a:ln w="38100">
            <a:solidFill>
              <a:srgbClr val="F8F7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" y="27157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Customized layouts to match project requirements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" y="3465576"/>
            <a:ext cx="256032" cy="256032"/>
          </a:xfrm>
          <a:prstGeom prst="ellipse">
            <a:avLst/>
          </a:prstGeom>
          <a:solidFill>
            <a:srgbClr val="6D28D9"/>
          </a:solidFill>
          <a:ln w="38100">
            <a:solidFill>
              <a:srgbClr val="F8F7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9224" y="34655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the interface using Google Stitch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0936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9659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429500" y="21671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0" descr="/home/claude/trendora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370" y="2269998"/>
            <a:ext cx="251460" cy="25146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419088" y="27432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User-Centered Design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189720" y="19659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10309860" y="21671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1" descr="/home/claude/trendora/icons/smart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2730" y="2269998"/>
            <a:ext cx="251460" cy="25146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299448" y="27432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Layout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309360" y="35661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7429500" y="37673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2" descr="/home/claude/trendora/icons/palet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2370" y="3870198"/>
            <a:ext cx="251460" cy="25146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419088" y="43434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Visual Identity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189720" y="35661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0"/>
          <p:cNvSpPr/>
          <p:nvPr/>
        </p:nvSpPr>
        <p:spPr>
          <a:xfrm>
            <a:off x="10309860" y="37673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6" name="Image 3" descr="/home/claude/trendora/icons/puzz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2730" y="3870198"/>
            <a:ext cx="251460" cy="25146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299448" y="43434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Simplicity &amp; Accessibility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309360" y="5166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7429500" y="53675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4" descr="/home/claude/trendora/icons/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2370" y="5470398"/>
            <a:ext cx="251460" cy="25146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419088" y="59436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9189720" y="5166360"/>
            <a:ext cx="2697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6"/>
          <p:cNvSpPr/>
          <p:nvPr/>
        </p:nvSpPr>
        <p:spPr>
          <a:xfrm>
            <a:off x="10309860" y="5367528"/>
            <a:ext cx="457200" cy="4572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5" descr="/home/claude/trendora/icons/rock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2730" y="5470398"/>
            <a:ext cx="251460" cy="25146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9299448" y="5943600"/>
            <a:ext cx="247802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Performance-Oriented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STRATEGY</a:t>
            </a:r>
            <a:endParaRPr lang="en-US" sz="900" dirty="0"/>
          </a:p>
        </p:txBody>
      </p:sp>
      <p:sp>
        <p:nvSpPr>
          <p:cNvPr id="47" name="Text 39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Angular 21 using a feature-shared-core architecture that isolates business domains from shared and application-wide concerns.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7830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box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29" y="1896237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830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42316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Cart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16552" y="15087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72584" y="178308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trendora/icons/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741" y="1896237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30952" y="17830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90872" y="2423160"/>
            <a:ext cx="3063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Interfaces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Functions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Constants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284464" y="15087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540496" y="178308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home/claude/trendora/icons/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3653" y="1896237"/>
            <a:ext cx="276606" cy="2766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98864" y="17830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558784" y="2423160"/>
            <a:ext cx="3063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Services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Service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Guards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Interceptors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Configuration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Error Handling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ARCHITECTURE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Frontend: Admin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interface for administrators to efficiently manage the entire e-commerce platform through secure, responsive tools.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473525" y="1417320"/>
            <a:ext cx="2206616" cy="2426892"/>
          </a:xfrm>
          <a:prstGeom prst="roundRect">
            <a:avLst>
              <a:gd name="adj" fmla="val 5450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19057" y="145874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bar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927" y="156161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002861" y="1974684"/>
            <a:ext cx="117005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729557" y="2441448"/>
            <a:ext cx="1501445" cy="1244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Statistics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Overview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Insights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43066" y="1417320"/>
            <a:ext cx="2206616" cy="2426892"/>
          </a:xfrm>
          <a:prstGeom prst="roundRect">
            <a:avLst>
              <a:gd name="adj" fmla="val 5450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51522" y="145804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92" y="156091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40655" y="1881378"/>
            <a:ext cx="140454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Mgmt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999098" y="2441448"/>
            <a:ext cx="1501445" cy="1244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 &amp; Delete Products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Upload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Pagination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466771" y="3999660"/>
            <a:ext cx="2206616" cy="2426892"/>
          </a:xfrm>
          <a:prstGeom prst="roundRect">
            <a:avLst>
              <a:gd name="adj" fmla="val 5450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267039" y="404038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9909" y="414325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604695" y="4466190"/>
            <a:ext cx="173148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&amp; Brand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2722803" y="5023788"/>
            <a:ext cx="1501445" cy="1244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Categories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Brands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36311" y="3999660"/>
            <a:ext cx="2206616" cy="2426892"/>
          </a:xfrm>
          <a:prstGeom prst="roundRect">
            <a:avLst>
              <a:gd name="adj" fmla="val 5450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536579" y="404038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trendora/icons/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9449" y="4143258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908880" y="4454620"/>
            <a:ext cx="16683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Mgmt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4992343" y="5023788"/>
            <a:ext cx="1501445" cy="1244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Customer Accounts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Customers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Customer Info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005852" y="3999660"/>
            <a:ext cx="2206616" cy="2426892"/>
          </a:xfrm>
          <a:prstGeom prst="roundRect">
            <a:avLst>
              <a:gd name="adj" fmla="val 5450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846812" y="399966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/home/claude/trendora/icons/clip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9682" y="41025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451790" y="4418231"/>
            <a:ext cx="13147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</a:t>
            </a:r>
            <a:r>
              <a:rPr lang="en-US" sz="1450" b="1" dirty="0" err="1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Mgmt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7261884" y="5023788"/>
            <a:ext cx="1501445" cy="1244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Orders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Order Status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Customer Orders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ADMIN DASHBOARD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Frontend: Customer, Contact &amp; About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seamless journey from account creation to managing profile, orders, and favorite products through an intuitive interface.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6536" cy="2906486"/>
          </a:xfrm>
          <a:prstGeom prst="roundRect">
            <a:avLst>
              <a:gd name="adj" fmla="val 3111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1931670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2520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441448"/>
            <a:ext cx="3014472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Registration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Protection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31208" y="1600200"/>
            <a:ext cx="3526536" cy="2906486"/>
          </a:xfrm>
          <a:prstGeom prst="roundRect">
            <a:avLst>
              <a:gd name="adj" fmla="val 3111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59808" y="18288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678" y="193167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54168" y="1828800"/>
            <a:ext cx="2520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Profile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87240" y="2441448"/>
            <a:ext cx="3014472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&amp; Edit Personal Info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Shipping Addresses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Settings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3776" y="1600200"/>
            <a:ext cx="3526536" cy="2906486"/>
          </a:xfrm>
          <a:prstGeom prst="roundRect">
            <a:avLst>
              <a:gd name="adj" fmla="val 3111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42376" y="18288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5246" y="193167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36736" y="1828800"/>
            <a:ext cx="2520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History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69808" y="2441448"/>
            <a:ext cx="3014472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Previous Orders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Order Status</a:t>
            </a:r>
            <a:endParaRPr lang="en-US" sz="11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Details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CUSTOMER EXPERIENCE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Frontend: Shopping Experience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intuitive purchasing journey — from discovering products to managing the cart and completing an order.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34411" y="2441448"/>
            <a:ext cx="2580894" cy="2374641"/>
          </a:xfrm>
          <a:prstGeom prst="roundRect">
            <a:avLst>
              <a:gd name="adj" fmla="val 4252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3011" y="267004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81" y="277291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57371" y="2670048"/>
            <a:ext cx="157505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0443" y="3282696"/>
            <a:ext cx="2068830" cy="13934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Products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&amp; Brands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Sections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71337" y="2441448"/>
            <a:ext cx="2580894" cy="2374641"/>
          </a:xfrm>
          <a:prstGeom prst="roundRect">
            <a:avLst>
              <a:gd name="adj" fmla="val 4252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99937" y="267004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2807" y="277291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94297" y="2670048"/>
            <a:ext cx="157505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Catalog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27369" y="3282696"/>
            <a:ext cx="2068830" cy="13934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Listing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Filtering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8263" y="2441448"/>
            <a:ext cx="2580894" cy="2374641"/>
          </a:xfrm>
          <a:prstGeom prst="roundRect">
            <a:avLst>
              <a:gd name="adj" fmla="val 4252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36863" y="267004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c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733" y="277291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31223" y="2670048"/>
            <a:ext cx="157505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Cart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64295" y="3282696"/>
            <a:ext cx="2068830" cy="1458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Remove Products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Quantities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Calculation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Summary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045189" y="2441448"/>
            <a:ext cx="2580894" cy="2374641"/>
          </a:xfrm>
          <a:prstGeom prst="roundRect">
            <a:avLst>
              <a:gd name="adj" fmla="val 4252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273789" y="267004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trendora/icons/credit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6659" y="2772918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868149" y="2670048"/>
            <a:ext cx="157505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01221" y="3282696"/>
            <a:ext cx="2068830" cy="1458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Information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Selection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Review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Order Placement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SHOPPING EXPERIENCE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ASP.NET Core Web API following a layered architecture that separates endpoints, business logic, and data access.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244852" cy="2331720"/>
          </a:xfrm>
          <a:prstGeom prst="roundRect">
            <a:avLst>
              <a:gd name="adj" fmla="val 488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19606" y="1728216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63" y="1841373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331720"/>
            <a:ext cx="2061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Layer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49808" y="2743200"/>
            <a:ext cx="18425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Endpoints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Routing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Binding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Handling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848356" y="2674620"/>
            <a:ext cx="594360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497580" y="1508760"/>
            <a:ext cx="2244852" cy="2331720"/>
          </a:xfrm>
          <a:prstGeom prst="roundRect">
            <a:avLst>
              <a:gd name="adj" fmla="val 488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368546" y="1728216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trendora/icons/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1703" y="1841373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9020" y="2331720"/>
            <a:ext cx="2061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Layer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698748" y="2743200"/>
            <a:ext cx="18425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Authorization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Processing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797296" y="2674620"/>
            <a:ext cx="594360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46520" y="1508760"/>
            <a:ext cx="2244852" cy="2331720"/>
          </a:xfrm>
          <a:prstGeom prst="roundRect">
            <a:avLst>
              <a:gd name="adj" fmla="val 488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317486" y="1728216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/home/claude/trendora/icons/file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0643" y="1841373"/>
            <a:ext cx="276606" cy="2766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37960" y="2331720"/>
            <a:ext cx="2061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 Layer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647688" y="2743200"/>
            <a:ext cx="18425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LINQ Queries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746236" y="2674620"/>
            <a:ext cx="594360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9395460" y="1508760"/>
            <a:ext cx="2244852" cy="2331720"/>
          </a:xfrm>
          <a:prstGeom prst="roundRect">
            <a:avLst>
              <a:gd name="adj" fmla="val 4888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10266426" y="1728216"/>
            <a:ext cx="502920" cy="50292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/home/claude/trendora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9583" y="1841373"/>
            <a:ext cx="276606" cy="2766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486900" y="2331720"/>
            <a:ext cx="2061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Layer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596628" y="2743200"/>
            <a:ext cx="18425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Design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90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900" dirty="0"/>
          </a:p>
        </p:txBody>
      </p:sp>
      <p:sp>
        <p:nvSpPr>
          <p:cNvPr id="50" name="Text 44"/>
          <p:cNvSpPr/>
          <p:nvPr/>
        </p:nvSpPr>
        <p:spPr>
          <a:xfrm>
            <a:off x="548640" y="6272784"/>
            <a:ext cx="14218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</a:t>
            </a:r>
            <a:endParaRPr lang="en-US" sz="1000" dirty="0"/>
          </a:p>
        </p:txBody>
      </p:sp>
      <p:sp>
        <p:nvSpPr>
          <p:cNvPr id="52" name="Text 46"/>
          <p:cNvSpPr/>
          <p:nvPr/>
        </p:nvSpPr>
        <p:spPr>
          <a:xfrm>
            <a:off x="2098548" y="6272784"/>
            <a:ext cx="19979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Codebase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ARCHITECTURE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model in Microsoft SQL Server, designed for consistency, integrity, and efficient data management.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" y="1709928"/>
            <a:ext cx="438912" cy="438912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" y="1808683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Management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2624328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3172968" y="2491740"/>
            <a:ext cx="146304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337560" y="15087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538728" y="1709928"/>
            <a:ext cx="438912" cy="43891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home/claude/trendora/icons/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7483" y="1808683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02152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Catalog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520440" y="2624328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Images</a:t>
            </a:r>
            <a:endParaRPr lang="en-US" sz="930" dirty="0"/>
          </a:p>
        </p:txBody>
      </p:sp>
      <p:sp>
        <p:nvSpPr>
          <p:cNvPr id="15" name="Shape 11"/>
          <p:cNvSpPr/>
          <p:nvPr/>
        </p:nvSpPr>
        <p:spPr>
          <a:xfrm>
            <a:off x="5961888" y="2491740"/>
            <a:ext cx="146304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26480" y="15087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327648" y="1709928"/>
            <a:ext cx="438912" cy="438912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/home/claude/trendora/icons/c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6403" y="1808683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309360" y="2624328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Cart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Items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930" dirty="0"/>
          </a:p>
        </p:txBody>
      </p:sp>
      <p:sp>
        <p:nvSpPr>
          <p:cNvPr id="21" name="Shape 16"/>
          <p:cNvSpPr/>
          <p:nvPr/>
        </p:nvSpPr>
        <p:spPr>
          <a:xfrm>
            <a:off x="8750808" y="2491740"/>
            <a:ext cx="146304" cy="0"/>
          </a:xfrm>
          <a:prstGeom prst="line">
            <a:avLst/>
          </a:prstGeom>
          <a:noFill/>
          <a:ln w="19050">
            <a:solidFill>
              <a:srgbClr val="E5E7E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8915400" y="1508760"/>
            <a:ext cx="26060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116568" y="1709928"/>
            <a:ext cx="438912" cy="438912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/home/claude/trendora/icons/pack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323" y="1808683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079992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Management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9098280" y="2624328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Items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30" dirty="0"/>
          </a:p>
        </p:txBody>
      </p:sp>
      <p:sp>
        <p:nvSpPr>
          <p:cNvPr id="59" name="Text 5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900" dirty="0"/>
          </a:p>
        </p:txBody>
      </p:sp>
      <p:sp>
        <p:nvSpPr>
          <p:cNvPr id="60" name="Text 54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Backend: Authentication &amp; Admin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 and comprehensive admin services via RESTful APIs, enabling role-based access and efficient platform management.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1FE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682496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1785366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8249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2240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Registration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Token Support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5352" y="14630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F3ECFE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73952" y="1682496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85366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68312" y="168249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Authorization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73952" y="2240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API Endpoints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Policy-Based Authorization</a:t>
            </a:r>
            <a:endParaRPr lang="en-US" sz="100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Resource Access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34564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SERVICES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48640" y="3767328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31520" y="395020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home/claude/trendora/icons/b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931" y="4036619"/>
            <a:ext cx="211226" cy="21122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3950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Mgmt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731520" y="4389120"/>
            <a:ext cx="22402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CRUD Operations</a:t>
            </a:r>
            <a:endParaRPr lang="en-US" sz="86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Mgmt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3337560" y="3767328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3520440" y="395020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home/claude/trendora/icons/fol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6851" y="4036619"/>
            <a:ext cx="211226" cy="21122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977640" y="3950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&amp; Brand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3520440" y="4389120"/>
            <a:ext cx="22402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CRUD</a:t>
            </a:r>
            <a:endParaRPr lang="en-US" sz="86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CRUD</a:t>
            </a:r>
            <a:endParaRPr lang="en-US" sz="860" dirty="0"/>
          </a:p>
        </p:txBody>
      </p:sp>
      <p:sp>
        <p:nvSpPr>
          <p:cNvPr id="25" name="Shape 19"/>
          <p:cNvSpPr/>
          <p:nvPr/>
        </p:nvSpPr>
        <p:spPr>
          <a:xfrm>
            <a:off x="6126480" y="3767328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6309360" y="395020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/home/claude/trendora/icons/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5771" y="4036619"/>
            <a:ext cx="211226" cy="21122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66560" y="3950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Mgmt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6309360" y="4389120"/>
            <a:ext cx="22402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Mgmt APIs</a:t>
            </a:r>
            <a:endParaRPr lang="en-US" sz="86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Info Mgmt</a:t>
            </a:r>
            <a:endParaRPr lang="en-US" sz="860" dirty="0"/>
          </a:p>
        </p:txBody>
      </p:sp>
      <p:sp>
        <p:nvSpPr>
          <p:cNvPr id="30" name="Shape 23"/>
          <p:cNvSpPr/>
          <p:nvPr/>
        </p:nvSpPr>
        <p:spPr>
          <a:xfrm>
            <a:off x="8915400" y="3767328"/>
            <a:ext cx="2606040" cy="1417320"/>
          </a:xfrm>
          <a:prstGeom prst="roundRect">
            <a:avLst>
              <a:gd name="adj" fmla="val 7742"/>
            </a:avLst>
          </a:prstGeom>
          <a:solidFill>
            <a:srgbClr val="F8F7FC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9098280" y="395020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/home/claude/trendora/icons/clip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4691" y="4036619"/>
            <a:ext cx="211226" cy="21122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555480" y="39502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Mgmt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9098280" y="4389120"/>
            <a:ext cx="22402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Processing</a:t>
            </a:r>
            <a:endParaRPr lang="en-US" sz="86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 Updates</a:t>
            </a:r>
            <a:endParaRPr lang="en-US" sz="86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</a:t>
            </a:r>
            <a:endParaRPr lang="en-US" sz="860" dirty="0"/>
          </a:p>
        </p:txBody>
      </p:sp>
      <p:sp>
        <p:nvSpPr>
          <p:cNvPr id="46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AUTH &amp; ADMIN</a:t>
            </a:r>
            <a:endParaRPr lang="en-US" sz="900" dirty="0"/>
          </a:p>
        </p:txBody>
      </p:sp>
      <p:sp>
        <p:nvSpPr>
          <p:cNvPr id="47" name="Text 39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Backend: Product, Order &amp; Customer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APIs that power the shopping experience — products, carts, orders, checkout, and customer accounts.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97480" cy="3063240"/>
          </a:xfrm>
          <a:prstGeom prst="roundRect">
            <a:avLst>
              <a:gd name="adj" fmla="val 4068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1840230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37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Services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350008"/>
            <a:ext cx="21854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CRUD Operations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Brand Mgmt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Filtering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Mgmt</a:t>
            </a:r>
            <a:endParaRPr lang="en-US" sz="960" dirty="0"/>
          </a:p>
        </p:txBody>
      </p:sp>
      <p:sp>
        <p:nvSpPr>
          <p:cNvPr id="9" name="Shape 6"/>
          <p:cNvSpPr/>
          <p:nvPr/>
        </p:nvSpPr>
        <p:spPr>
          <a:xfrm>
            <a:off x="3392424" y="1508760"/>
            <a:ext cx="2697480" cy="3063240"/>
          </a:xfrm>
          <a:prstGeom prst="roundRect">
            <a:avLst>
              <a:gd name="adj" fmla="val 4068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21024" y="173736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c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3894" y="184023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15384" y="1737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Shopping Cart Services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48456" y="2350008"/>
            <a:ext cx="21854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Remove Items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Quantities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Cart Totals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Customer Cart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236208" y="1508760"/>
            <a:ext cx="2697480" cy="3063240"/>
          </a:xfrm>
          <a:prstGeom prst="roundRect">
            <a:avLst>
              <a:gd name="adj" fmla="val 4068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64808" y="173736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credit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78" y="18402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59168" y="1737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&amp; Checkout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92240" y="2350008"/>
            <a:ext cx="21854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Creation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Information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Confirmation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Management</a:t>
            </a:r>
            <a:endParaRPr lang="en-US" sz="960" dirty="0"/>
          </a:p>
        </p:txBody>
      </p:sp>
      <p:sp>
        <p:nvSpPr>
          <p:cNvPr id="19" name="Shape 14"/>
          <p:cNvSpPr/>
          <p:nvPr/>
        </p:nvSpPr>
        <p:spPr>
          <a:xfrm>
            <a:off x="9079992" y="1508760"/>
            <a:ext cx="2697480" cy="3063240"/>
          </a:xfrm>
          <a:prstGeom prst="roundRect">
            <a:avLst>
              <a:gd name="adj" fmla="val 4068"/>
            </a:avLst>
          </a:prstGeom>
          <a:solidFill>
            <a:srgbClr val="F5F4FA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08592" y="1737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trendora/icons/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1462" y="18402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902952" y="1737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Services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36024" y="2350008"/>
            <a:ext cx="2185416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Mgmt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Management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</a:t>
            </a:r>
            <a:endParaRPr lang="en-US" sz="96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6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</a:t>
            </a:r>
            <a:endParaRPr lang="en-US" sz="960" dirty="0"/>
          </a:p>
        </p:txBody>
      </p:sp>
      <p:sp>
        <p:nvSpPr>
          <p:cNvPr id="52" name="Text 4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PRODUCT / ORDER / CUSTOMER</a:t>
            </a:r>
            <a:endParaRPr lang="en-US" sz="900" dirty="0"/>
          </a:p>
        </p:txBody>
      </p:sp>
      <p:sp>
        <p:nvSpPr>
          <p:cNvPr id="53" name="Text 47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Solutions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encountered across the frontend and backend, addressed with modern frameworks and best practices.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1414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310896" cy="310896"/>
          </a:xfrm>
          <a:prstGeom prst="ellipse">
            <a:avLst/>
          </a:prstGeom>
          <a:solidFill>
            <a:srgbClr val="1414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66" y="1601114"/>
            <a:ext cx="217627" cy="2176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81328"/>
            <a:ext cx="49514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59068" y="1554480"/>
            <a:ext cx="310896" cy="3108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claude/trendora/icons/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5702" y="1601114"/>
            <a:ext cx="217627" cy="2176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88836" y="1481328"/>
            <a:ext cx="49514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77240" y="19385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323076" y="19385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Service-Based Architecture with Angular HttpClient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48640" y="2395728"/>
            <a:ext cx="11091672" cy="457200"/>
          </a:xfrm>
          <a:prstGeom prst="rect">
            <a:avLst/>
          </a:prstGeom>
          <a:solidFill>
            <a:srgbClr val="F8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77240" y="23957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Authorization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323076" y="23957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Role-Based Access Control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28529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777240" y="28529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Synchronization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323076" y="28529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Signals &amp; RxJS Reactive Programming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48640" y="33101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solidFill>
            <a:srgbClr val="F8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777240" y="33101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User Interface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6323076" y="33101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&amp; PrimeNG Components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48640" y="37673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77240" y="37673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Organization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6323076" y="37673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Feature-Based Angular Architecture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548640" y="42245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548640" y="4224528"/>
            <a:ext cx="11091672" cy="457200"/>
          </a:xfrm>
          <a:prstGeom prst="rect">
            <a:avLst/>
          </a:prstGeom>
          <a:solidFill>
            <a:srgbClr val="F8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777240" y="42245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Protection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6323076" y="42245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Route Guards &amp; HTTP Interceptors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548640" y="46817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777240" y="46817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Relationships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323076" y="46817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 &amp; SQL Server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548640" y="51389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548640" y="5138928"/>
            <a:ext cx="11091672" cy="457200"/>
          </a:xfrm>
          <a:prstGeom prst="rect">
            <a:avLst/>
          </a:prstGeom>
          <a:solidFill>
            <a:srgbClr val="F8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777240" y="51389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6323076" y="51389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Reactive Forms with Custom Validators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48640" y="55961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777240" y="55961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Optimization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6323076" y="55961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&amp; Standalone Components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548640" y="60533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8"/>
          <p:cNvSpPr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solidFill>
            <a:srgbClr val="F8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9"/>
          <p:cNvSpPr/>
          <p:nvPr/>
        </p:nvSpPr>
        <p:spPr>
          <a:xfrm>
            <a:off x="777240" y="60533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323076" y="6053328"/>
            <a:ext cx="51800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Exception Handling &amp; HTTP Interceptors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6094476" y="1481328"/>
            <a:ext cx="0" cy="502920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900" dirty="0"/>
          </a:p>
        </p:txBody>
      </p:sp>
      <p:sp>
        <p:nvSpPr>
          <p:cNvPr id="48" name="Text 44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 is designed with scalability in mind, allowing future features and technologies to be integrated without major architectural changes.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8096" y="1709928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trendora/icons/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" y="1808683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7099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Features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86384" y="2286000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Recommendations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Shopping Assistant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Review Analysis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288536" y="1508760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07992" y="1709928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trendora/icons/smart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6747" y="1808683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65776" y="17099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Application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26280" y="2286000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&amp; iOS Apps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Experience</a:t>
            </a:r>
            <a:endParaRPr lang="en-US" sz="930" dirty="0"/>
          </a:p>
        </p:txBody>
      </p:sp>
      <p:sp>
        <p:nvSpPr>
          <p:cNvPr id="14" name="Shape 10"/>
          <p:cNvSpPr/>
          <p:nvPr/>
        </p:nvSpPr>
        <p:spPr>
          <a:xfrm>
            <a:off x="8028432" y="1508760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247888" y="1709928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trendora/icons/credit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6643" y="180868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05672" y="1709928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&amp; Checkout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66176" y="2286000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Payment Gateways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Wallet Integration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Payment Methods</a:t>
            </a:r>
            <a:endParaRPr lang="en-US" sz="930" dirty="0"/>
          </a:p>
        </p:txBody>
      </p:sp>
      <p:sp>
        <p:nvSpPr>
          <p:cNvPr id="19" name="Shape 14"/>
          <p:cNvSpPr/>
          <p:nvPr/>
        </p:nvSpPr>
        <p:spPr>
          <a:xfrm>
            <a:off x="548640" y="3721608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68096" y="3922776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trendora/icons/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" y="4021531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922776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Engagement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86384" y="4498848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 Alerts</a:t>
            </a:r>
            <a:endParaRPr lang="en-US" sz="930" dirty="0"/>
          </a:p>
        </p:txBody>
      </p:sp>
      <p:sp>
        <p:nvSpPr>
          <p:cNvPr id="24" name="Shape 18"/>
          <p:cNvSpPr/>
          <p:nvPr/>
        </p:nvSpPr>
        <p:spPr>
          <a:xfrm>
            <a:off x="4288536" y="3721608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507992" y="3922776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/home/claude/trendora/icons/bar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6747" y="4021531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065776" y="3922776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Intelligence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26280" y="4498848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Reports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Behavior Analysis</a:t>
            </a:r>
            <a:endParaRPr lang="en-US" sz="930" dirty="0"/>
          </a:p>
        </p:txBody>
      </p:sp>
      <p:sp>
        <p:nvSpPr>
          <p:cNvPr id="29" name="Shape 22"/>
          <p:cNvSpPr/>
          <p:nvPr/>
        </p:nvSpPr>
        <p:spPr>
          <a:xfrm>
            <a:off x="8028432" y="3721608"/>
            <a:ext cx="3611880" cy="208483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0F0"/>
            </a:solidFill>
            <a:prstDash val="dash"/>
          </a:ln>
          <a:effectLst>
            <a:outerShdw blurRad="101600" dist="38100" dir="5400000" algn="bl" rotWithShape="0">
              <a:srgbClr val="1E1B4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247888" y="3922776"/>
            <a:ext cx="438912" cy="438912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/home/claude/trendora/icons/glo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6643" y="4021531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05672" y="3922776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Expansion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8266176" y="4498848"/>
            <a:ext cx="315468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Support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Multi-Currency Support</a:t>
            </a:r>
            <a:endParaRPr lang="en-US" sz="93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3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Multi-Vendor Marketplace</a:t>
            </a:r>
            <a:endParaRPr lang="en-US" sz="93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TRENDORA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0" y="155448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246888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809848" y="3246120"/>
            <a:ext cx="4572000" cy="0"/>
          </a:xfrm>
          <a:prstGeom prst="line">
            <a:avLst/>
          </a:prstGeom>
          <a:noFill/>
          <a:ln w="12700">
            <a:solidFill>
              <a:srgbClr val="3A36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TRENDORA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3913632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Full-Stack E-Commerce Platform — Digital Egypt Pioneers Initiative (DEPI) Graduation Project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67966" y="443484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67966" y="443484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66998" y="44348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66998" y="44348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34710" y="4434840"/>
            <a:ext cx="2189988" cy="347472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34710" y="4434840"/>
            <a:ext cx="21899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89290" y="443484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2E2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89290" y="443484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0" y="6035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1269</Words>
  <Application>Microsoft Office PowerPoint</Application>
  <PresentationFormat>Widescreen</PresentationFormat>
  <Paragraphs>409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mostafa ehab</cp:lastModifiedBy>
  <cp:revision>5</cp:revision>
  <dcterms:created xsi:type="dcterms:W3CDTF">2026-07-10T19:09:13Z</dcterms:created>
  <dcterms:modified xsi:type="dcterms:W3CDTF">2026-07-10T20:10:47Z</dcterms:modified>
</cp:coreProperties>
</file>